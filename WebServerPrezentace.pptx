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Klikněte pro přesun snímku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cs-CZ" sz="2000" spc="-1" strike="noStrike">
                <a:solidFill>
                  <a:srgbClr val="000000"/>
                </a:solidFill>
                <a:latin typeface="Arial"/>
              </a:rPr>
              <a:t>Klikněte pro úpravu formátu komentářů</a:t>
            </a:r>
            <a:endParaRPr b="0" lang="cs-CZ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&lt;záhlaví&gt;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dt" idx="3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&lt;datum/čas&gt;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ftr" idx="3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B72EF71-3F83-4719-BD66-0DACFA9B6ABA}" type="slidenum"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&lt;číslo&gt;</a:t>
            </a:fld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52378E-0B86-477C-83B2-0DDD5E8B403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A1B567-EDE2-43D5-A984-F3F29AE2120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58BB80-1EAE-4466-86E3-E8ED527DFE1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6106DC-6734-4B62-932B-2B057B6A1A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24FBBE-6E33-44BA-9245-B2FF1F77C76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EAB4C4-23B3-4A1E-BC2B-84511E876EF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854FF3-ED23-41AA-9661-CFDEB60080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9A0E51-975E-4285-ACE9-82148D27233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F6FCD3-A1CA-471A-AC6A-099F76FC385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4BF49C1-FFE1-406C-9F0D-FEF09A0E615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cs-CZ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2C594D0-93A2-4321-A3B3-4FD2CF1BDDF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6BA491E-2584-4EAE-ACEB-07887296306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B5600AE-0C41-4902-82A9-E84FE04540E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71514F61-24AE-4F1C-A0A2-CD4E37E08CA8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cs-CZ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02AA363B-AD53-4D7A-8667-655A1EF8D67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E599968C-3CB6-4FEA-86E3-A8DE5FA93EC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cs-CZ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cs-CZ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F784AE22-4FDD-4953-83D6-21FDEA1E83D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0E3D9C72-6858-4834-8F02-FFDFDE7372C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27F4C68D-B492-4469-B539-E123BC3BF93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AD331AFC-299E-4FDF-BEE8-17949A65D2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FD43EE41-DA29-4839-A37A-6107E3FA3F3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6C4AE95D-5FED-4141-B0D4-A9F9F3CE982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2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cs-CZ" sz="6000" spc="-1" strike="noStrike">
                <a:solidFill>
                  <a:schemeClr val="dk1"/>
                </a:solidFill>
                <a:latin typeface="Aptos Display"/>
              </a:rPr>
              <a:t>Kliknut</a:t>
            </a:r>
            <a:r>
              <a:rPr b="0" lang="cs-CZ" sz="6000" spc="-1" strike="noStrike">
                <a:solidFill>
                  <a:schemeClr val="dk1"/>
                </a:solidFill>
                <a:latin typeface="Aptos Display"/>
              </a:rPr>
              <a:t>ím lze </a:t>
            </a:r>
            <a:r>
              <a:rPr b="0" lang="cs-CZ" sz="6000" spc="-1" strike="noStrike">
                <a:solidFill>
                  <a:schemeClr val="dk1"/>
                </a:solidFill>
                <a:latin typeface="Aptos Display"/>
              </a:rPr>
              <a:t>upravit </a:t>
            </a:r>
            <a:r>
              <a:rPr b="0" lang="cs-CZ" sz="6000" spc="-1" strike="noStrike">
                <a:solidFill>
                  <a:schemeClr val="dk1"/>
                </a:solidFill>
                <a:latin typeface="Aptos Display"/>
              </a:rPr>
              <a:t>styl.</a:t>
            </a:r>
            <a:endParaRPr b="0" lang="cs-CZ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 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4F811A3-D832-47DC-9C86-0A9E69E7A3C7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4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D032CF-4F1E-42C9-A744-6E506018DD53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AB1600-4C19-40FE-A582-579FF7566B9E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7" name="Shape 1"/>
          <p:cNvSpPr/>
          <p:nvPr/>
        </p:nvSpPr>
        <p:spPr>
          <a:xfrm>
            <a:off x="502920" y="6355080"/>
            <a:ext cx="11155680" cy="360"/>
          </a:xfrm>
          <a:prstGeom prst="line">
            <a:avLst/>
          </a:prstGeom>
          <a:ln w="12700">
            <a:solidFill>
              <a:srgbClr val="d9de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8" name="Text 2"/>
          <p:cNvSpPr/>
          <p:nvPr/>
        </p:nvSpPr>
        <p:spPr>
          <a:xfrm>
            <a:off x="594360" y="640080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9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sldNum" idx="10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045AC6-3DC3-4E56-85B6-53FA5240928B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Klikněte pro úpravu formátu textu nadpisu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Klikněte pro úpravu formátu textu osnovy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 osnovy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Pátá úroveň osnovy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Šestá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Sedmá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BDE673-291B-43F0-BB82-312B8CB2C10F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60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cs-CZ" sz="24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Po kliknutí můžete upravovat styly textu v předloze.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1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sldNum" idx="1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C3E1C0-08FD-4662-9B75-A4B13570B4B0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1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913238-061C-4028-AF69-C57D30A8E855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cs-CZ" sz="24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cs-CZ" sz="24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7"/>
          <p:cNvSpPr>
            <a:spLocks noGrp="1"/>
          </p:cNvSpPr>
          <p:nvPr>
            <p:ph type="ftr" idx="2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8"/>
          <p:cNvSpPr>
            <a:spLocks noGrp="1"/>
          </p:cNvSpPr>
          <p:nvPr>
            <p:ph type="sldNum" idx="2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93BCFA-FAE2-455E-9799-5429DB209C52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dt" idx="2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ftr" idx="2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sldNum" idx="2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FC622E-A79F-4B49-933B-C0B42CFEF329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2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2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2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AD3607-4045-4E1F-9B64-1E2514822AC7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32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cs-CZ" sz="16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16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2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3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3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36D315-BE34-4319-85E7-918721013793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32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Klikněte pro úpravu formátu textu osnovy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Čtvrtá úroveň osnovy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Pátá úroveň osnovy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Šestá úroveň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Sedmá úroveň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cs-CZ" sz="16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16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3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ftr" idx="3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sldNum" idx="3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E78AA1-3469-4ED0-B948-2E0036A39405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0"/>
          <p:cNvSpPr/>
          <p:nvPr/>
        </p:nvSpPr>
        <p:spPr>
          <a:xfrm>
            <a:off x="822960" y="1234440"/>
            <a:ext cx="9052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Webhosting Management System</a:t>
            </a:r>
            <a:endParaRPr b="0" lang="cs-CZ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41320" y="1993320"/>
            <a:ext cx="6766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4e5b68"/>
                </a:solidFill>
                <a:latin typeface="Aptos"/>
                <a:ea typeface="Aptos"/>
              </a:rPr>
              <a:t>Semestrální projekt do předmětu BSPWE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"/>
          <p:cNvSpPr/>
          <p:nvPr/>
        </p:nvSpPr>
        <p:spPr>
          <a:xfrm>
            <a:off x="840960" y="2505240"/>
            <a:ext cx="4389120" cy="360"/>
          </a:xfrm>
          <a:prstGeom prst="line">
            <a:avLst/>
          </a:prstGeom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0" name="Text 3"/>
          <p:cNvSpPr/>
          <p:nvPr/>
        </p:nvSpPr>
        <p:spPr>
          <a:xfrm>
            <a:off x="841320" y="2670120"/>
            <a:ext cx="6583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202124"/>
                </a:solidFill>
                <a:latin typeface="Aptos"/>
                <a:ea typeface="Aptos"/>
              </a:rPr>
              <a:t>Docker • PHP 8.2 • Apache • MariaDB • FTP</a:t>
            </a:r>
            <a:endParaRPr b="0" lang="cs-CZ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4"/>
          <p:cNvSpPr/>
          <p:nvPr/>
        </p:nvSpPr>
        <p:spPr>
          <a:xfrm>
            <a:off x="822960" y="5887440"/>
            <a:ext cx="2925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cs-CZ" sz="1600" spc="-1" strike="noStrike">
                <a:solidFill>
                  <a:srgbClr val="202124"/>
                </a:solidFill>
                <a:latin typeface="Aptos"/>
                <a:ea typeface="Aptos"/>
              </a:rPr>
              <a:t>Ztvárnili:</a:t>
            </a:r>
            <a:endParaRPr b="0" lang="cs-CZ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202124"/>
                </a:solidFill>
                <a:latin typeface="Aptos"/>
                <a:ea typeface="Aptos"/>
              </a:rPr>
              <a:t>Matěj Bartončík</a:t>
            </a:r>
            <a:r>
              <a:rPr b="0" lang="cs-CZ" sz="1600" spc="-1" strike="noStrike">
                <a:solidFill>
                  <a:srgbClr val="202124"/>
                </a:solidFill>
                <a:latin typeface="Aptos"/>
                <a:ea typeface="Aptos"/>
              </a:rPr>
              <a:t> &amp; Bohdan Duda</a:t>
            </a:r>
            <a:endParaRPr b="0" lang="cs-CZ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sldNum" idx="38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A895DC9-AAE8-43A3-9F63-B797B01ACF5A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Cíl projektu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2"/>
          <p:cNvSpPr/>
          <p:nvPr/>
        </p:nvSpPr>
        <p:spPr>
          <a:xfrm>
            <a:off x="822960" y="132588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202124"/>
                </a:solidFill>
                <a:latin typeface="Aptos"/>
                <a:ea typeface="Aptos"/>
              </a:rPr>
              <a:t>Cílem bylo navrhnout řešení, ve kterém administrátor založí zákazníkovi webový prostor, databázi i FTP přístup z jednoho místa a bez ruční konfigurace každé části zvlášť.</a:t>
            </a:r>
            <a:endParaRPr b="0" lang="cs-CZ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841320" y="256032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Role v systému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841320" y="2816280"/>
            <a:ext cx="5211720" cy="100548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7" name="Text 5"/>
          <p:cNvSpPr/>
          <p:nvPr/>
        </p:nvSpPr>
        <p:spPr>
          <a:xfrm>
            <a:off x="969120" y="2907720"/>
            <a:ext cx="495576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Admin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Zakládá hostingy, vidí přehled zákazníků a spravuje celé prostředí.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6144840" y="2816280"/>
            <a:ext cx="5166000" cy="100548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9" name="Text 7"/>
          <p:cNvSpPr/>
          <p:nvPr/>
        </p:nvSpPr>
        <p:spPr>
          <a:xfrm>
            <a:off x="6272640" y="2907720"/>
            <a:ext cx="491004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Zákazník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Pracuje se svým webem, databází a soubory přes FTP nebo klientský portál.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8"/>
          <p:cNvSpPr/>
          <p:nvPr/>
        </p:nvSpPr>
        <p:spPr>
          <a:xfrm>
            <a:off x="841320" y="416052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Hlavní body projektu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877680" y="4434840"/>
            <a:ext cx="101494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O</a:t>
            </a: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ddělení jednotlivých zákazníků od sebe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A</a:t>
            </a: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utomatické vytvoření všech potřebných prostředků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V</a:t>
            </a: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rácení změn zpět při chybě během provisioningu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sldNum" idx="39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61EFF0-8FD2-48BA-ACFD-BC4D7AE4B54D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Architektura systému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"/>
          <p:cNvSpPr/>
          <p:nvPr/>
        </p:nvSpPr>
        <p:spPr>
          <a:xfrm>
            <a:off x="640080" y="1773000"/>
            <a:ext cx="1124280" cy="411120"/>
          </a:xfrm>
          <a:prstGeom prst="rect">
            <a:avLst/>
          </a:prstGeom>
          <a:solidFill>
            <a:srgbClr val="eef2f7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5" name="Text 4"/>
          <p:cNvSpPr/>
          <p:nvPr/>
        </p:nvSpPr>
        <p:spPr>
          <a:xfrm>
            <a:off x="713160" y="183708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40" spc="-1" strike="noStrike">
                <a:solidFill>
                  <a:srgbClr val="1f3a5f"/>
                </a:solidFill>
                <a:latin typeface="Aptos"/>
                <a:ea typeface="Aptos"/>
              </a:rPr>
              <a:t>Služba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5"/>
          <p:cNvSpPr/>
          <p:nvPr/>
        </p:nvSpPr>
        <p:spPr>
          <a:xfrm>
            <a:off x="1764720" y="1773000"/>
            <a:ext cx="2559960" cy="411120"/>
          </a:xfrm>
          <a:prstGeom prst="rect">
            <a:avLst/>
          </a:prstGeom>
          <a:solidFill>
            <a:srgbClr val="eef2f7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7" name="Text 6"/>
          <p:cNvSpPr/>
          <p:nvPr/>
        </p:nvSpPr>
        <p:spPr>
          <a:xfrm>
            <a:off x="1837800" y="183708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40" spc="-1" strike="noStrike">
                <a:solidFill>
                  <a:srgbClr val="1f3a5f"/>
                </a:solidFill>
                <a:latin typeface="Aptos"/>
                <a:ea typeface="Aptos"/>
              </a:rPr>
              <a:t>Technologie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4325040" y="1773000"/>
            <a:ext cx="1096920" cy="411120"/>
          </a:xfrm>
          <a:prstGeom prst="rect">
            <a:avLst/>
          </a:prstGeom>
          <a:solidFill>
            <a:srgbClr val="eef2f7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9" name="Text 8"/>
          <p:cNvSpPr/>
          <p:nvPr/>
        </p:nvSpPr>
        <p:spPr>
          <a:xfrm>
            <a:off x="4398120" y="183708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40" spc="-1" strike="noStrike">
                <a:solidFill>
                  <a:srgbClr val="1f3a5f"/>
                </a:solidFill>
                <a:latin typeface="Aptos"/>
                <a:ea typeface="Aptos"/>
              </a:rPr>
              <a:t>Port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9"/>
          <p:cNvSpPr/>
          <p:nvPr/>
        </p:nvSpPr>
        <p:spPr>
          <a:xfrm>
            <a:off x="5422320" y="1773000"/>
            <a:ext cx="5668920" cy="411120"/>
          </a:xfrm>
          <a:prstGeom prst="rect">
            <a:avLst/>
          </a:prstGeom>
          <a:solidFill>
            <a:srgbClr val="eef2f7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1" name="Text 10"/>
          <p:cNvSpPr/>
          <p:nvPr/>
        </p:nvSpPr>
        <p:spPr>
          <a:xfrm>
            <a:off x="5495400" y="183708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40" spc="-1" strike="noStrike">
                <a:solidFill>
                  <a:srgbClr val="1f3a5f"/>
                </a:solidFill>
                <a:latin typeface="Aptos"/>
                <a:ea typeface="Aptos"/>
              </a:rPr>
              <a:t>Úloha v systému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11"/>
          <p:cNvSpPr/>
          <p:nvPr/>
        </p:nvSpPr>
        <p:spPr>
          <a:xfrm>
            <a:off x="640080" y="2184480"/>
            <a:ext cx="112428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3" name="Text 12"/>
          <p:cNvSpPr/>
          <p:nvPr/>
        </p:nvSpPr>
        <p:spPr>
          <a:xfrm>
            <a:off x="713160" y="224856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440" spc="-1" strike="noStrike">
                <a:solidFill>
                  <a:srgbClr val="202124"/>
                </a:solidFill>
                <a:latin typeface="Aptos"/>
                <a:ea typeface="Aptos"/>
              </a:rPr>
              <a:t>W</a:t>
            </a: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eb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13"/>
          <p:cNvSpPr/>
          <p:nvPr/>
        </p:nvSpPr>
        <p:spPr>
          <a:xfrm>
            <a:off x="1764720" y="2184480"/>
            <a:ext cx="25599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1837800" y="224856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Apache + PHP 8.2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16"/>
          <p:cNvSpPr/>
          <p:nvPr/>
        </p:nvSpPr>
        <p:spPr>
          <a:xfrm>
            <a:off x="4398120" y="224856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80</a:t>
            </a:r>
            <a:r>
              <a:rPr b="0" lang="cs-CZ" sz="1440" spc="-1" strike="noStrike">
                <a:solidFill>
                  <a:srgbClr val="202124"/>
                </a:solidFill>
                <a:latin typeface="Aptos"/>
                <a:ea typeface="Aptos"/>
              </a:rPr>
              <a:t>80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17"/>
          <p:cNvSpPr/>
          <p:nvPr/>
        </p:nvSpPr>
        <p:spPr>
          <a:xfrm>
            <a:off x="5422320" y="2184480"/>
            <a:ext cx="5668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8" name="Text 18"/>
          <p:cNvSpPr/>
          <p:nvPr/>
        </p:nvSpPr>
        <p:spPr>
          <a:xfrm>
            <a:off x="5495400" y="224856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webový server a admin aplikace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19"/>
          <p:cNvSpPr/>
          <p:nvPr/>
        </p:nvSpPr>
        <p:spPr>
          <a:xfrm>
            <a:off x="640080" y="2595960"/>
            <a:ext cx="112428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0" name="Text 20"/>
          <p:cNvSpPr/>
          <p:nvPr/>
        </p:nvSpPr>
        <p:spPr>
          <a:xfrm>
            <a:off x="713160" y="266004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440" spc="-1" strike="noStrike">
                <a:solidFill>
                  <a:srgbClr val="202124"/>
                </a:solidFill>
                <a:latin typeface="Aptos"/>
              </a:rPr>
              <a:t>DB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21"/>
          <p:cNvSpPr/>
          <p:nvPr/>
        </p:nvSpPr>
        <p:spPr>
          <a:xfrm>
            <a:off x="1764720" y="2595960"/>
            <a:ext cx="25599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2" name="Text 22"/>
          <p:cNvSpPr/>
          <p:nvPr/>
        </p:nvSpPr>
        <p:spPr>
          <a:xfrm>
            <a:off x="1837800" y="266004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MariaDB 10.11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23"/>
          <p:cNvSpPr/>
          <p:nvPr/>
        </p:nvSpPr>
        <p:spPr>
          <a:xfrm>
            <a:off x="4325040" y="2595960"/>
            <a:ext cx="1096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4" name="Text 24"/>
          <p:cNvSpPr/>
          <p:nvPr/>
        </p:nvSpPr>
        <p:spPr>
          <a:xfrm>
            <a:off x="4398120" y="266004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3306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25"/>
          <p:cNvSpPr/>
          <p:nvPr/>
        </p:nvSpPr>
        <p:spPr>
          <a:xfrm>
            <a:off x="5422320" y="2595960"/>
            <a:ext cx="5668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6" name="Text 26"/>
          <p:cNvSpPr/>
          <p:nvPr/>
        </p:nvSpPr>
        <p:spPr>
          <a:xfrm>
            <a:off x="5495400" y="266004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uložení databází a uživatelů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27"/>
          <p:cNvSpPr/>
          <p:nvPr/>
        </p:nvSpPr>
        <p:spPr>
          <a:xfrm>
            <a:off x="640080" y="3007440"/>
            <a:ext cx="112428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8" name="Text 28"/>
          <p:cNvSpPr/>
          <p:nvPr/>
        </p:nvSpPr>
        <p:spPr>
          <a:xfrm>
            <a:off x="713160" y="307152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440" spc="-1" strike="noStrike">
                <a:solidFill>
                  <a:srgbClr val="202124"/>
                </a:solidFill>
                <a:latin typeface="Aptos"/>
                <a:ea typeface="Aptos"/>
              </a:rPr>
              <a:t>FTP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29"/>
          <p:cNvSpPr/>
          <p:nvPr/>
        </p:nvSpPr>
        <p:spPr>
          <a:xfrm>
            <a:off x="1764720" y="3007440"/>
            <a:ext cx="25599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0" name="Text 30"/>
          <p:cNvSpPr/>
          <p:nvPr/>
        </p:nvSpPr>
        <p:spPr>
          <a:xfrm>
            <a:off x="1837800" y="307152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Pure-FTPd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31"/>
          <p:cNvSpPr/>
          <p:nvPr/>
        </p:nvSpPr>
        <p:spPr>
          <a:xfrm>
            <a:off x="4325040" y="3007440"/>
            <a:ext cx="1096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2" name="Text 32"/>
          <p:cNvSpPr/>
          <p:nvPr/>
        </p:nvSpPr>
        <p:spPr>
          <a:xfrm>
            <a:off x="4398120" y="307152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2121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3"/>
          <p:cNvSpPr/>
          <p:nvPr/>
        </p:nvSpPr>
        <p:spPr>
          <a:xfrm>
            <a:off x="5422320" y="3007440"/>
            <a:ext cx="5668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4" name="Text 34"/>
          <p:cNvSpPr/>
          <p:nvPr/>
        </p:nvSpPr>
        <p:spPr>
          <a:xfrm>
            <a:off x="5495400" y="307152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přenos souborů zákazníků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35"/>
          <p:cNvSpPr/>
          <p:nvPr/>
        </p:nvSpPr>
        <p:spPr>
          <a:xfrm>
            <a:off x="640080" y="3418920"/>
            <a:ext cx="112428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6" name="Text 36"/>
          <p:cNvSpPr/>
          <p:nvPr/>
        </p:nvSpPr>
        <p:spPr>
          <a:xfrm>
            <a:off x="713160" y="348300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440" spc="-1" strike="noStrike">
                <a:solidFill>
                  <a:srgbClr val="202124"/>
                </a:solidFill>
                <a:latin typeface="Aptos"/>
                <a:ea typeface="Aptos"/>
              </a:rPr>
              <a:t>PMA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37"/>
          <p:cNvSpPr/>
          <p:nvPr/>
        </p:nvSpPr>
        <p:spPr>
          <a:xfrm>
            <a:off x="1764720" y="3418920"/>
            <a:ext cx="25599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8" name="Text 38"/>
          <p:cNvSpPr/>
          <p:nvPr/>
        </p:nvSpPr>
        <p:spPr>
          <a:xfrm>
            <a:off x="1837800" y="348300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phpMyAdmin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39"/>
          <p:cNvSpPr/>
          <p:nvPr/>
        </p:nvSpPr>
        <p:spPr>
          <a:xfrm>
            <a:off x="4325040" y="3418920"/>
            <a:ext cx="1096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0" name="Text 40"/>
          <p:cNvSpPr/>
          <p:nvPr/>
        </p:nvSpPr>
        <p:spPr>
          <a:xfrm>
            <a:off x="4398120" y="348300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8081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41"/>
          <p:cNvSpPr/>
          <p:nvPr/>
        </p:nvSpPr>
        <p:spPr>
          <a:xfrm>
            <a:off x="5422320" y="3418920"/>
            <a:ext cx="5668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2" name="Text 42"/>
          <p:cNvSpPr/>
          <p:nvPr/>
        </p:nvSpPr>
        <p:spPr>
          <a:xfrm>
            <a:off x="5495400" y="348300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správa MariaDB přes web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43"/>
          <p:cNvSpPr/>
          <p:nvPr/>
        </p:nvSpPr>
        <p:spPr>
          <a:xfrm>
            <a:off x="640080" y="3830400"/>
            <a:ext cx="112428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4" name="Text 44"/>
          <p:cNvSpPr/>
          <p:nvPr/>
        </p:nvSpPr>
        <p:spPr>
          <a:xfrm>
            <a:off x="713160" y="389448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440" spc="-1" strike="noStrike">
                <a:solidFill>
                  <a:srgbClr val="202124"/>
                </a:solidFill>
                <a:latin typeface="Aptos"/>
                <a:ea typeface="Aptos"/>
              </a:rPr>
              <a:t>Docs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45"/>
          <p:cNvSpPr/>
          <p:nvPr/>
        </p:nvSpPr>
        <p:spPr>
          <a:xfrm>
            <a:off x="1764720" y="3830400"/>
            <a:ext cx="25599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6" name="Text 46"/>
          <p:cNvSpPr/>
          <p:nvPr/>
        </p:nvSpPr>
        <p:spPr>
          <a:xfrm>
            <a:off x="1837800" y="389448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MkDocs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47"/>
          <p:cNvSpPr/>
          <p:nvPr/>
        </p:nvSpPr>
        <p:spPr>
          <a:xfrm>
            <a:off x="4325040" y="3830400"/>
            <a:ext cx="1096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8" name="Text 48"/>
          <p:cNvSpPr/>
          <p:nvPr/>
        </p:nvSpPr>
        <p:spPr>
          <a:xfrm>
            <a:off x="4398120" y="389448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8000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49"/>
          <p:cNvSpPr/>
          <p:nvPr/>
        </p:nvSpPr>
        <p:spPr>
          <a:xfrm>
            <a:off x="5422320" y="3830400"/>
            <a:ext cx="5668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40" name="Text 50"/>
          <p:cNvSpPr/>
          <p:nvPr/>
        </p:nvSpPr>
        <p:spPr>
          <a:xfrm>
            <a:off x="5495400" y="389448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živá projektová dokumentace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52"/>
          <p:cNvSpPr/>
          <p:nvPr/>
        </p:nvSpPr>
        <p:spPr>
          <a:xfrm>
            <a:off x="640080" y="4427280"/>
            <a:ext cx="1021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Výhoda tohoto rozdělení je hlavně v tom, že se dají jednotlivé části ladit odděleně a současně zůstává celé prostředí spustitelné jedním příkazem.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1"/>
          <p:cNvSpPr>
            <a:spLocks noGrp="1"/>
          </p:cNvSpPr>
          <p:nvPr>
            <p:ph type="sldNum" idx="40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81511B-0437-4B2D-BCBE-F5C0413F3F61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TextovéPole 2"/>
          <p:cNvSpPr/>
          <p:nvPr/>
        </p:nvSpPr>
        <p:spPr>
          <a:xfrm>
            <a:off x="557640" y="928440"/>
            <a:ext cx="10378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Využívá Docker – přenositelnost , konfigurace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Webový server – Apache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2"/>
          <p:cNvSpPr/>
          <p:nvPr/>
        </p:nvSpPr>
        <p:spPr>
          <a:xfrm>
            <a:off x="841320" y="1298520"/>
            <a:ext cx="3291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Podporované způsoby hostingu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841320" y="1600200"/>
            <a:ext cx="3428640" cy="1170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969120" y="1691640"/>
            <a:ext cx="31726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Adresářový hosting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localhost:8080/~user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5"/>
          <p:cNvSpPr/>
          <p:nvPr/>
        </p:nvSpPr>
        <p:spPr>
          <a:xfrm>
            <a:off x="4498920" y="1600200"/>
            <a:ext cx="3245760" cy="1170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4626720" y="1691640"/>
            <a:ext cx="2989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Subdoménový hosting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user.localhost:8080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9"/>
          <p:cNvSpPr/>
          <p:nvPr/>
        </p:nvSpPr>
        <p:spPr>
          <a:xfrm>
            <a:off x="841320" y="315468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Další nastavení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10"/>
          <p:cNvSpPr/>
          <p:nvPr/>
        </p:nvSpPr>
        <p:spPr>
          <a:xfrm>
            <a:off x="877680" y="3429000"/>
            <a:ext cx="102409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VirtualDocumentRoot a AliasMatch pro mapování na správnou složku zákazníka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aktivní Apache moduly rewrite a vhost_alias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upravené PHP limity pro upload větších souborů</a:t>
            </a: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 (100MB, max 1000 souborů)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pomocné nástroje pro práci s FTP účty přímo v kontejneru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1"/>
          <p:cNvSpPr>
            <a:spLocks noGrp="1"/>
          </p:cNvSpPr>
          <p:nvPr>
            <p:ph type="sldNum" idx="41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BFB4B7-ED10-4882-8BF9-B2767825D6BF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Admin aplikace – zřízení hostingu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2"/>
          <p:cNvSpPr/>
          <p:nvPr/>
        </p:nvSpPr>
        <p:spPr>
          <a:xfrm>
            <a:off x="841320" y="1371600"/>
            <a:ext cx="7452000" cy="416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55" name="Text 4"/>
          <p:cNvSpPr/>
          <p:nvPr/>
        </p:nvSpPr>
        <p:spPr>
          <a:xfrm>
            <a:off x="978480" y="173340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f3a5f"/>
                </a:solidFill>
                <a:latin typeface="Aptos"/>
                <a:ea typeface="Aptos"/>
              </a:rPr>
              <a:t>1</a:t>
            </a:r>
            <a:r>
              <a:rPr b="1" lang="cs-CZ" sz="1300" spc="-1" strike="noStrike">
                <a:solidFill>
                  <a:srgbClr val="1f3a5f"/>
                </a:solidFill>
                <a:latin typeface="Aptos"/>
                <a:ea typeface="Aptos"/>
              </a:rPr>
              <a:t>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1572840" y="1609200"/>
            <a:ext cx="6354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202124"/>
                </a:solidFill>
                <a:latin typeface="Aptos"/>
                <a:ea typeface="Aptos"/>
              </a:rPr>
              <a:t>Ověření vstupů a sanitizace jména zákazníka, kontrola kolize v evidenci hostingů.</a:t>
            </a:r>
            <a:endParaRPr b="0" lang="cs-CZ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7"/>
          <p:cNvSpPr/>
          <p:nvPr/>
        </p:nvSpPr>
        <p:spPr>
          <a:xfrm>
            <a:off x="978480" y="24922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f3a5f"/>
                </a:solidFill>
                <a:latin typeface="Aptos"/>
                <a:ea typeface="Aptos"/>
              </a:rPr>
              <a:t>2</a:t>
            </a:r>
            <a:r>
              <a:rPr b="1" lang="cs-CZ" sz="1300" spc="-1" strike="noStrike">
                <a:solidFill>
                  <a:srgbClr val="1f3a5f"/>
                </a:solidFill>
                <a:latin typeface="Aptos"/>
                <a:ea typeface="Aptos"/>
              </a:rPr>
              <a:t>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8"/>
          <p:cNvSpPr/>
          <p:nvPr/>
        </p:nvSpPr>
        <p:spPr>
          <a:xfrm>
            <a:off x="1572840" y="2368440"/>
            <a:ext cx="6354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202124"/>
                </a:solidFill>
                <a:latin typeface="Aptos"/>
                <a:ea typeface="Aptos"/>
              </a:rPr>
              <a:t>Vytvoření složky /srv/www/{customer}/public a základního souboru index.php.</a:t>
            </a:r>
            <a:endParaRPr b="0" lang="cs-CZ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10"/>
          <p:cNvSpPr/>
          <p:nvPr/>
        </p:nvSpPr>
        <p:spPr>
          <a:xfrm>
            <a:off x="978480" y="32515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f3a5f"/>
                </a:solidFill>
                <a:latin typeface="Aptos"/>
                <a:ea typeface="Aptos"/>
              </a:rPr>
              <a:t>3</a:t>
            </a:r>
            <a:r>
              <a:rPr b="1" lang="cs-CZ" sz="1300" spc="-1" strike="noStrike">
                <a:solidFill>
                  <a:srgbClr val="1f3a5f"/>
                </a:solidFill>
                <a:latin typeface="Aptos"/>
                <a:ea typeface="Aptos"/>
              </a:rPr>
              <a:t>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1"/>
          <p:cNvSpPr/>
          <p:nvPr/>
        </p:nvSpPr>
        <p:spPr>
          <a:xfrm>
            <a:off x="1572840" y="3127320"/>
            <a:ext cx="6354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202124"/>
                </a:solidFill>
                <a:latin typeface="Aptos"/>
                <a:ea typeface="Aptos"/>
              </a:rPr>
              <a:t>Založení databáze, uživatele a přidělení práv jen pro tuto databázi.</a:t>
            </a:r>
            <a:endParaRPr b="0" lang="cs-CZ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13"/>
          <p:cNvSpPr/>
          <p:nvPr/>
        </p:nvSpPr>
        <p:spPr>
          <a:xfrm>
            <a:off x="978480" y="401040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f3a5f"/>
                </a:solidFill>
                <a:latin typeface="Aptos"/>
                <a:ea typeface="Aptos"/>
              </a:rPr>
              <a:t>4</a:t>
            </a:r>
            <a:r>
              <a:rPr b="1" lang="cs-CZ" sz="1300" spc="-1" strike="noStrike">
                <a:solidFill>
                  <a:srgbClr val="1f3a5f"/>
                </a:solidFill>
                <a:latin typeface="Aptos"/>
                <a:ea typeface="Aptos"/>
              </a:rPr>
              <a:t>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14"/>
          <p:cNvSpPr/>
          <p:nvPr/>
        </p:nvSpPr>
        <p:spPr>
          <a:xfrm>
            <a:off x="1572840" y="3886200"/>
            <a:ext cx="6354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202124"/>
                </a:solidFill>
                <a:latin typeface="Aptos"/>
                <a:ea typeface="Aptos"/>
              </a:rPr>
              <a:t>Vytvoření FTP účtu přes pure-pw a aktualizace databáze uživatelů bez restartu kontejneru.</a:t>
            </a:r>
            <a:endParaRPr b="0" lang="cs-CZ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16"/>
          <p:cNvSpPr/>
          <p:nvPr/>
        </p:nvSpPr>
        <p:spPr>
          <a:xfrm>
            <a:off x="978480" y="47692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f3a5f"/>
                </a:solidFill>
                <a:latin typeface="Aptos"/>
                <a:ea typeface="Aptos"/>
              </a:rPr>
              <a:t>5</a:t>
            </a:r>
            <a:r>
              <a:rPr b="1" lang="cs-CZ" sz="1300" spc="-1" strike="noStrike">
                <a:solidFill>
                  <a:srgbClr val="1f3a5f"/>
                </a:solidFill>
                <a:latin typeface="Aptos"/>
                <a:ea typeface="Aptos"/>
              </a:rPr>
              <a:t>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17"/>
          <p:cNvSpPr/>
          <p:nvPr/>
        </p:nvSpPr>
        <p:spPr>
          <a:xfrm>
            <a:off x="1572840" y="4645080"/>
            <a:ext cx="6354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202124"/>
                </a:solidFill>
                <a:latin typeface="Aptos"/>
                <a:ea typeface="Aptos"/>
              </a:rPr>
              <a:t>Uložení přístupových údajů do interní evidence a export přehledu pro administrátora.</a:t>
            </a:r>
            <a:endParaRPr b="0" lang="cs-CZ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18"/>
          <p:cNvSpPr/>
          <p:nvPr/>
        </p:nvSpPr>
        <p:spPr>
          <a:xfrm>
            <a:off x="8549640" y="1627560"/>
            <a:ext cx="2697120" cy="141696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66" name="Text 19"/>
          <p:cNvSpPr/>
          <p:nvPr/>
        </p:nvSpPr>
        <p:spPr>
          <a:xfrm>
            <a:off x="8677800" y="1719000"/>
            <a:ext cx="2441160" cy="12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Rollback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300" spc="-1" strike="noStrike">
                <a:solidFill>
                  <a:srgbClr val="202124"/>
                </a:solidFill>
                <a:latin typeface="Aptos"/>
                <a:ea typeface="Aptos"/>
              </a:rPr>
              <a:t>P</a:t>
            </a: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okud se kterýkoli krok nepovede, skript smaže vytvořenou databázi, uživatele i adresáře, aby nezůstalo rozbité nebo neúplné prostředí.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20"/>
          <p:cNvSpPr/>
          <p:nvPr/>
        </p:nvSpPr>
        <p:spPr>
          <a:xfrm>
            <a:off x="8549640" y="3337560"/>
            <a:ext cx="2697120" cy="129816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68" name="Text 21"/>
          <p:cNvSpPr/>
          <p:nvPr/>
        </p:nvSpPr>
        <p:spPr>
          <a:xfrm>
            <a:off x="8677800" y="3520440"/>
            <a:ext cx="2441160" cy="93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cs-CZ" sz="1300" spc="-1" strike="noStrike">
                <a:solidFill>
                  <a:srgbClr val="202124"/>
                </a:solidFill>
                <a:latin typeface="Aptos"/>
                <a:ea typeface="Aptos"/>
              </a:rPr>
              <a:t>Uložení přihlašovacích údajů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300" spc="-1" strike="noStrike">
                <a:solidFill>
                  <a:srgbClr val="202124"/>
                </a:solidFill>
                <a:latin typeface="Aptos"/>
                <a:ea typeface="Aptos"/>
              </a:rPr>
              <a:t>  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Panel zároveň řeší přihlášení administrátora, seznam zákazníků, klientský portál </a:t>
            </a:r>
            <a:r>
              <a:rPr b="0" lang="cs-CZ" sz="1300" spc="-1" strike="noStrike">
                <a:solidFill>
                  <a:srgbClr val="202124"/>
                </a:solidFill>
                <a:latin typeface="Aptos"/>
                <a:ea typeface="Aptos"/>
              </a:rPr>
              <a:t>a</a:t>
            </a: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 upload souborů.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1"/>
          <p:cNvSpPr>
            <a:spLocks noGrp="1"/>
          </p:cNvSpPr>
          <p:nvPr>
            <p:ph type="sldNum" idx="42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C2D80C-1FAC-42FE-9200-7BDC6B153EF3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Databáze a FTP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2"/>
          <p:cNvSpPr/>
          <p:nvPr/>
        </p:nvSpPr>
        <p:spPr>
          <a:xfrm>
            <a:off x="6062400" y="1325880"/>
            <a:ext cx="360" cy="4480560"/>
          </a:xfrm>
          <a:prstGeom prst="line">
            <a:avLst/>
          </a:prstGeom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841320" y="132588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MariaDB 10.11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4"/>
          <p:cNvSpPr/>
          <p:nvPr/>
        </p:nvSpPr>
        <p:spPr>
          <a:xfrm>
            <a:off x="877680" y="1645920"/>
            <a:ext cx="480024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</a:pP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s</a:t>
            </a: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amostatná databáze a databázový uživatel pro každého zákazníka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o</a:t>
            </a: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právnění pouze nad konkrétní databází typu cust{name}db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root účet zůstává jen pro administraci celého systému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perzistence dat přes bind mount do ./data/mariadb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při rollbacku se provede DROP DATABASE i DROP USER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6355080" y="132588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Pure-FTPd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6391800" y="1645920"/>
            <a:ext cx="466308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</a:pP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virtuální uživatelé bez vytváření systémových Linux účtů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chroot omezení na vlastní adresář /home/{name}/public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sdílený svazek data/www mezi webem a FTP službou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živá aktualizace uživatelů přes pure-pw mkdb bez restartu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pasivní režim na portech 30000–30009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1"/>
          <p:cNvSpPr>
            <a:spLocks noGrp="1"/>
          </p:cNvSpPr>
          <p:nvPr>
            <p:ph type="sldNum" idx="43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216779-4DA2-4E4F-86B3-B9C58C958E83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Bezpečnost a izolace zákazníků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2"/>
          <p:cNvSpPr/>
          <p:nvPr/>
        </p:nvSpPr>
        <p:spPr>
          <a:xfrm>
            <a:off x="841320" y="132588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Souborový systém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877680" y="1627560"/>
            <a:ext cx="475452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každý zákazník pracuje jen ve své složce /srv/www/{name}/public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upload se vždy ověřuje podle session kontextu přihlášeného uživatele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blokování problematických cest typu . a .. kvůli path traversal útokům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4"/>
          <p:cNvSpPr/>
          <p:nvPr/>
        </p:nvSpPr>
        <p:spPr>
          <a:xfrm>
            <a:off x="6236280" y="132588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Databáze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5"/>
          <p:cNvSpPr/>
          <p:nvPr/>
        </p:nvSpPr>
        <p:spPr>
          <a:xfrm>
            <a:off x="6272640" y="1627560"/>
            <a:ext cx="475452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oddělená DB a vlastní DB účet pro každého zákazníka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žádný cross-access do cizích databází díky omezeným grantům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v phpMyAdmin se po přihlášení zobrazí jen příslušná databáze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6"/>
          <p:cNvSpPr/>
          <p:nvPr/>
        </p:nvSpPr>
        <p:spPr>
          <a:xfrm>
            <a:off x="841320" y="333756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Portál a session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7"/>
          <p:cNvSpPr/>
          <p:nvPr/>
        </p:nvSpPr>
        <p:spPr>
          <a:xfrm>
            <a:off x="877680" y="3639240"/>
            <a:ext cx="47545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hesla jsou uložená jako hash pomocí password_hash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aplikace odvozuje oprávnění z customer_name uloženého v session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admin session je oddělená od zákaznické části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8"/>
          <p:cNvSpPr/>
          <p:nvPr/>
        </p:nvSpPr>
        <p:spPr>
          <a:xfrm>
            <a:off x="6236280" y="3337560"/>
            <a:ext cx="822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FTP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9"/>
          <p:cNvSpPr/>
          <p:nvPr/>
        </p:nvSpPr>
        <p:spPr>
          <a:xfrm>
            <a:off x="6272640" y="3639240"/>
            <a:ext cx="47545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FTP účet má přístup pouze do vlastního home adresáře</a:t>
            </a:r>
            <a:r>
              <a:rPr b="0" lang="cs-CZ" sz="1580" spc="-1" strike="noStrike">
                <a:solidFill>
                  <a:srgbClr val="202124"/>
                </a:solidFill>
                <a:latin typeface="Aptos"/>
                <a:ea typeface="Aptos"/>
              </a:rPr>
              <a:t> - Chroot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používají se virtuální uživatelé, ne systémové účty serveru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web a FTP vrstva sdílí data, ale ne oprávnění administrace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1"/>
          <p:cNvSpPr>
            <a:spLocks noGrp="1"/>
          </p:cNvSpPr>
          <p:nvPr>
            <p:ph type="sldNum" idx="44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EC2CC3-765D-4F72-A290-3EA27DA75689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Dokumentace – MkDocs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841320" y="135324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Co dokumentace obsahuje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6515280" y="1783080"/>
            <a:ext cx="548604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660" spc="-1" strike="noStrike">
                <a:solidFill>
                  <a:srgbClr val="202124"/>
                </a:solidFill>
                <a:latin typeface="Aptos"/>
              </a:rPr>
              <a:t>Docker kontejner – hosting_docs, port 8000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660" spc="-1" strike="noStrike">
                <a:solidFill>
                  <a:srgbClr val="202124"/>
                </a:solidFill>
                <a:latin typeface="Aptos"/>
                <a:ea typeface="Aptos"/>
              </a:rPr>
              <a:t>Nástroj – MkDocs + Material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660" spc="-1" strike="noStrike">
                <a:solidFill>
                  <a:srgbClr val="202124"/>
                </a:solidFill>
                <a:latin typeface="Aptos"/>
                <a:ea typeface="Aptos"/>
              </a:rPr>
              <a:t>Funkce Live Reload – Sleduje celý adresář a propíše změny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660" spc="-1" strike="noStrike">
                <a:solidFill>
                  <a:srgbClr val="202124"/>
                </a:solidFill>
                <a:latin typeface="Aptos"/>
                <a:ea typeface="Aptos"/>
              </a:rPr>
              <a:t>Formát souborů – Markdown (.md)</a:t>
            </a: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 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660" spc="-1" strike="noStrike">
                <a:solidFill>
                  <a:srgbClr val="202124"/>
                </a:solidFill>
                <a:latin typeface="Aptos"/>
                <a:ea typeface="Aptos"/>
              </a:rPr>
              <a:t>Konfigurace – mkdocs.yml v kořenovém adresáři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4"/>
          <p:cNvSpPr/>
          <p:nvPr/>
        </p:nvSpPr>
        <p:spPr>
          <a:xfrm>
            <a:off x="6537960" y="1353240"/>
            <a:ext cx="2194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Technické poznámky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1"/>
          <p:cNvSpPr>
            <a:spLocks noGrp="1"/>
          </p:cNvSpPr>
          <p:nvPr>
            <p:ph type="sldNum" idx="45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F66485-CA6C-453E-AC9E-829A63D18AD3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1030320" y="1816560"/>
            <a:ext cx="548604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APP.md – popis PHP aplikace a procesu provisioningu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DB.md – databázová vrstva a práce s oprávněními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DOCKER_COMPOSE.md – přehled všech kontejnerů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FTP.md, SECURITY.md a WEB.md – konfigurace jednotlivých částí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USER_GUIDE.md a README – návod na spuštění a používání projektu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Závěr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868680" y="1417320"/>
            <a:ext cx="1033236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205920" indent="-2059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Připravili jsme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 funkční prostředí v Docker</a:t>
            </a: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u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 s pěti kontejnery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marL="205920" indent="-2059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A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dmin panel umí automaticky založit hosting, databázi i FTP účet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marL="205920" indent="-2059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Z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ákazníci jsou od sebe oddělení na úrovni souborů, databáze, session i FTP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marL="205920" indent="-2059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Ř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ešení podporuje tři způsoby hostingu: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buClr>
                <a:srgbClr val="202124"/>
              </a:buClr>
              <a:buFont typeface="Aptos Display"/>
              <a:buAutoNum type="arabicPeriod"/>
            </a:pP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Adresář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buClr>
                <a:srgbClr val="202124"/>
              </a:buClr>
              <a:buFont typeface="Aptos Display"/>
              <a:buAutoNum type="arabicPeriod"/>
            </a:pP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Subdoména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buClr>
                <a:srgbClr val="202124"/>
              </a:buClr>
              <a:buFont typeface="Aptos Display"/>
              <a:buAutoNum type="arabicPeriod"/>
            </a:pP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V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lastní doména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marL="205920" indent="-2059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součástí projektu je rollback při chybě a také dokumentace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1"/>
          <p:cNvSpPr>
            <a:spLocks noGrp="1"/>
          </p:cNvSpPr>
          <p:nvPr>
            <p:ph type="sldNum" idx="46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F2AA4B8-26AD-4F1C-BF19-EB77229D4E72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 0"/>
          <p:cNvSpPr/>
          <p:nvPr/>
        </p:nvSpPr>
        <p:spPr>
          <a:xfrm>
            <a:off x="868680" y="2148840"/>
            <a:ext cx="6949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Děkuj</a:t>
            </a:r>
            <a:r>
              <a:rPr b="1" lang="cs-CZ" sz="27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eme</a:t>
            </a:r>
            <a:r>
              <a:rPr b="1" lang="en-US" sz="27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 za pozornost</a:t>
            </a:r>
            <a:endParaRPr b="0" lang="cs-CZ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3"/>
          <p:cNvSpPr/>
          <p:nvPr/>
        </p:nvSpPr>
        <p:spPr>
          <a:xfrm>
            <a:off x="896040" y="37306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Máte nějaké d</a:t>
            </a:r>
            <a:r>
              <a:rPr b="1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otazy?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1"/>
          <p:cNvSpPr>
            <a:spLocks noGrp="1"/>
          </p:cNvSpPr>
          <p:nvPr>
            <p:ph type="sldNum" idx="47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4549C8-F58E-4A9F-9067-22D36A053776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Application>LibreOffice/24.2.7.2$Linux_X86_64 LibreOffice_project/420$Build-2</Application>
  <AppVersion>15.0000</AppVersion>
  <Words>837</Words>
  <Paragraphs>156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2026-04-21T16:07:28Z</dcterms:created>
  <dc:creator>Duda Bohdan</dc:creator>
  <dc:description/>
  <dc:language>cs-CZ</dc:language>
  <cp:lastModifiedBy/>
  <dcterms:modified xsi:type="dcterms:W3CDTF">2026-04-22T09:01:10Z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Širokoúhlá obrazovka</vt:lpwstr>
  </property>
  <property fmtid="{D5CDD505-2E9C-101B-9397-08002B2CF9AE}" pid="4" name="Slides">
    <vt:i4>10</vt:i4>
  </property>
</Properties>
</file>