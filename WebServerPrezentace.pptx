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2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70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da Bohdan" userId="c4208703-d534-4435-89b4-709139f27447" providerId="ADAL" clId="{A46E5931-5D10-4364-9A9C-C43717B4F910}"/>
    <pc:docChg chg="custSel modSld">
      <pc:chgData name="Duda Bohdan" userId="c4208703-d534-4435-89b4-709139f27447" providerId="ADAL" clId="{A46E5931-5D10-4364-9A9C-C43717B4F910}" dt="2026-04-21T16:08:57.293" v="1" actId="478"/>
      <pc:docMkLst>
        <pc:docMk/>
      </pc:docMkLst>
      <pc:sldChg chg="delSp modSp mod">
        <pc:chgData name="Duda Bohdan" userId="c4208703-d534-4435-89b4-709139f27447" providerId="ADAL" clId="{A46E5931-5D10-4364-9A9C-C43717B4F910}" dt="2026-04-21T16:08:57.293" v="1" actId="478"/>
        <pc:sldMkLst>
          <pc:docMk/>
          <pc:sldMk cId="0" sldId="257"/>
        </pc:sldMkLst>
        <pc:spChg chg="del mod">
          <ac:chgData name="Duda Bohdan" userId="c4208703-d534-4435-89b4-709139f27447" providerId="ADAL" clId="{A46E5931-5D10-4364-9A9C-C43717B4F910}" dt="2026-04-21T16:08:57.293" v="1" actId="478"/>
          <ac:spMkLst>
            <pc:docMk/>
            <pc:sldMk cId="0" sldId="257"/>
            <ac:spMk id="9" creationId="{4123B54E-1247-AB58-40C7-7F5B79C275D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4E38C4-535C-4F9D-9B5A-2346299542F4}" type="datetimeFigureOut">
              <a:rPr lang="cs-CZ" smtClean="0"/>
              <a:t>22.04.2026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8B0B99-D037-4021-90EA-64EDFE6AEE3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5616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F43D040-AE30-E080-3886-158C2404FA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6A663864-5315-5AA6-E433-A34815139C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0746492-EA9D-20AB-6067-64B482B08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14F35-7C3F-45BB-A668-5C0E041A4A60}" type="datetimeFigureOut">
              <a:rPr lang="cs-CZ" smtClean="0"/>
              <a:t>22.04.2026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27D095D-5A98-B595-FBFC-5EE2CC520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56E3F64-907A-80BC-E904-DEF6365BE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5632D-84A8-46F4-A944-E7CBB53564A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45940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4354279-4B8F-8924-4543-292961D8A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351F463-FF53-0074-0696-FE1A0B1C8A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18A6238-03F5-3607-E950-E8DF4A66E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14F35-7C3F-45BB-A668-5C0E041A4A60}" type="datetimeFigureOut">
              <a:rPr lang="cs-CZ" smtClean="0"/>
              <a:t>22.04.2026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1856DB2-1058-1CBB-01AE-42132255B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1B6B2CB-F70E-3AE0-F6BB-25A3B0C9E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5632D-84A8-46F4-A944-E7CBB53564A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62613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7EE12B1-AE16-3B89-A543-A6BBEF2A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1DC6B870-6BE8-C66A-8466-5677581D2B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C36AEAD-8653-6982-7A7F-C67F6F5F7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14F35-7C3F-45BB-A668-5C0E041A4A60}" type="datetimeFigureOut">
              <a:rPr lang="cs-CZ" smtClean="0"/>
              <a:t>22.04.2026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2F6294D-FFD0-AF0C-030A-63B73FFDC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7E2397A-D40B-CD5A-AEDA-1B8E8BB22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5632D-84A8-46F4-A944-E7CBB53564A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81236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F8DFAB6-2347-3D57-3832-72BB5AC8E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26F5597-F7BE-FAF2-5046-DB90B3497B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5964598C-AC66-522E-AE71-C3AC3B4CB6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D4EBE2E4-E3A4-9E87-E320-6D9F72A6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14F35-7C3F-45BB-A668-5C0E041A4A60}" type="datetimeFigureOut">
              <a:rPr lang="cs-CZ" smtClean="0"/>
              <a:t>22.04.2026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E66D54B5-9CB7-528B-4520-2F8113ED7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BB22E6F7-B884-2735-D41F-38B056C4B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5632D-84A8-46F4-A944-E7CBB53564A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17405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B2F6229-3165-4540-3E4C-637477A38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79F36C3-1379-E703-6C6A-720D1DE6E7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4182A4B9-00D1-A92F-6EBA-EBF143F56F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81C1FC74-F580-8BC8-4E78-C3D8628A7D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DAE5B6A1-55FA-3255-68A2-46096F803F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7E2E0CC2-E95F-F0CE-0CE9-2FBE55E32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14F35-7C3F-45BB-A668-5C0E041A4A60}" type="datetimeFigureOut">
              <a:rPr lang="cs-CZ" smtClean="0"/>
              <a:t>22.04.2026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80CC2638-5ECE-B69B-CB63-479E67A7C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A2C82F51-B869-099C-6438-852B30B42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5632D-84A8-46F4-A944-E7CBB53564A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38844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E569899-D753-D131-98EE-B4BF0FFF8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760320D9-CE30-CABB-D93B-65E9D0D37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14F35-7C3F-45BB-A668-5C0E041A4A60}" type="datetimeFigureOut">
              <a:rPr lang="cs-CZ" smtClean="0"/>
              <a:t>22.04.2026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7319A1E5-B05D-5359-EFBD-4A3406437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4D1E6CEE-B9E0-3362-E73B-DAACFB900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5632D-84A8-46F4-A944-E7CBB53564A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01507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1B04D63E-B628-C6DE-0786-9B3FB093D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14F35-7C3F-45BB-A668-5C0E041A4A60}" type="datetimeFigureOut">
              <a:rPr lang="cs-CZ" smtClean="0"/>
              <a:t>22.04.2026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00DE3D18-BD0C-5492-C712-30D44C76D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E40D4DCE-543E-0143-2B42-44C344A02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5632D-84A8-46F4-A944-E7CBB53564A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5486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178CDB-B6D3-7A4F-99C0-45C84FDEF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349B6C2-0C9C-40DF-C867-832ECBB11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4072C24E-AA55-2425-2A69-36C9C717EB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B285F789-5E7A-5E78-97B5-09D07E20A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14F35-7C3F-45BB-A668-5C0E041A4A60}" type="datetimeFigureOut">
              <a:rPr lang="cs-CZ" smtClean="0"/>
              <a:t>22.04.2026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E7C6A44-7A25-9093-9918-95D76C6FE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9AAB0A37-F503-0B1D-BB07-0FA9908EE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5632D-84A8-46F4-A944-E7CBB53564A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06913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E9F9DFA-2050-416D-834E-877D34943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56487AD7-2411-7414-C2A5-F75C971C4B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476B8BBB-A693-FBF9-1DFD-E08A679F0B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895489A9-68D3-456B-35CF-5C9C9984C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14F35-7C3F-45BB-A668-5C0E041A4A60}" type="datetimeFigureOut">
              <a:rPr lang="cs-CZ" smtClean="0"/>
              <a:t>22.04.2026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57946BAF-8C77-5BC6-1516-8D4962351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3A215D4A-E0C7-9EDC-343D-0E24B3960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5632D-84A8-46F4-A944-E7CBB53564A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63361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EDE376A-D205-7A45-7AED-688FB2A2F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ADD2977E-3920-CCA8-DBE7-A0DC68AA82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B57B115-2A5F-377A-9D48-BF8F7BCC0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14F35-7C3F-45BB-A668-5C0E041A4A60}" type="datetimeFigureOut">
              <a:rPr lang="cs-CZ" smtClean="0"/>
              <a:t>22.04.2026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40A4BE6-E2CC-EAB7-18A7-194B46FB9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62F8380-9353-1446-88C9-34BEBEE13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5632D-84A8-46F4-A944-E7CBB53564A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60179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3F7A7F61-8D95-298E-C440-1A41FBF6B1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B3DCE465-9CC9-F91E-38E6-D256E08E38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EED92A9-8190-F2D7-2C63-213245022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14F35-7C3F-45BB-A668-5C0E041A4A60}" type="datetimeFigureOut">
              <a:rPr lang="cs-CZ" smtClean="0"/>
              <a:t>22.04.2026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2D34E98-1C2B-5C3F-FDC7-1CA89DAB5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F5D4297-621C-6FD7-9E2E-240205C55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5632D-84A8-46F4-A944-E7CBB53564A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994405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Text 2"/>
          <p:cNvSpPr/>
          <p:nvPr/>
        </p:nvSpPr>
        <p:spPr>
          <a:xfrm>
            <a:off x="594360" y="640080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7336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184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68FFFC45-2B46-8858-7FA2-1371D3D67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FCA99E7-DE1D-687C-A839-B7C2725C88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3C184BC-B16E-F0E4-2BFD-885C1B73F5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A14F35-7C3F-45BB-A668-5C0E041A4A60}" type="datetimeFigureOut">
              <a:rPr lang="cs-CZ" smtClean="0"/>
              <a:t>22.04.2026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751AD4B-96E9-5086-4A8B-B82B340A90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D8B5567-A480-D4D4-5E98-38E888F248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C5632D-84A8-46F4-A944-E7CBB53564A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11315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34440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Webhosting Management System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41248" y="1993392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4E5B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Semestrální projekt do předmětu BSPWE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41248" y="2505456"/>
            <a:ext cx="4389120" cy="0"/>
          </a:xfrm>
          <a:prstGeom prst="line">
            <a:avLst/>
          </a:prstGeom>
          <a:noFill/>
          <a:ln w="12700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841248" y="2670048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• PHP 8.2 • Apache • MariaDB • FTP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5887329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s-CZ" sz="1600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Ztvárnili: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Matěj </a:t>
            </a:r>
            <a:r>
              <a:rPr lang="en-US" sz="1600" dirty="0" err="1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Bartončík</a:t>
            </a:r>
            <a:r>
              <a:rPr lang="cs-CZ" sz="16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&amp; Bohdan Duda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7336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Cíl projektu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50" dirty="0" err="1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Cílem</a:t>
            </a:r>
            <a:r>
              <a:rPr lang="en-US" sz="18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bylo navrhnout řešení, ve kterém administrátor založí zákazníkovi webový prostor, databázi i FTP přístup z jednoho místa a bez ruční konfigurace každé části zvlášť.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41248" y="25603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B6A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v systému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41248" y="2816352"/>
            <a:ext cx="5212080" cy="1005840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/>
          <p:nvPr/>
        </p:nvSpPr>
        <p:spPr>
          <a:xfrm>
            <a:off x="969264" y="2907792"/>
            <a:ext cx="4956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Zakládá hostingy, vidí přehled zákazníků a spravuje celé prostředí.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44768" y="2816352"/>
            <a:ext cx="5166360" cy="1005840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Text 7"/>
          <p:cNvSpPr/>
          <p:nvPr/>
        </p:nvSpPr>
        <p:spPr>
          <a:xfrm>
            <a:off x="6272784" y="2907792"/>
            <a:ext cx="49103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Zákazník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Pracuje se svým webem, databází a soubory přes FTP nebo klientský portál.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1248" y="4160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B6A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Hlavní body projektu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77824" y="4434840"/>
            <a:ext cx="10149840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94310" indent="-194310">
              <a:buSzPct val="100000"/>
              <a:buChar char="•"/>
            </a:pPr>
            <a:r>
              <a:rPr lang="cs-CZ" sz="17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</a:t>
            </a:r>
            <a:r>
              <a:rPr lang="en-US" sz="1700" dirty="0" err="1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ddělení</a:t>
            </a:r>
            <a:r>
              <a:rPr lang="en-US" sz="17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jednotlivých zákazníků od sebe</a:t>
            </a:r>
            <a:endParaRPr lang="en-US" sz="1700" dirty="0"/>
          </a:p>
          <a:p>
            <a:pPr marL="194310" indent="-194310">
              <a:buSzPct val="100000"/>
              <a:buChar char="•"/>
            </a:pPr>
            <a:r>
              <a:rPr lang="cs-CZ" sz="17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r>
              <a:rPr lang="en-US" sz="1700" dirty="0" err="1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utomatické</a:t>
            </a:r>
            <a:r>
              <a:rPr lang="en-US" sz="17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vytvoření všech potřebných prostředků</a:t>
            </a:r>
            <a:endParaRPr lang="en-US" sz="1700" dirty="0"/>
          </a:p>
          <a:p>
            <a:pPr marL="194310" indent="-194310">
              <a:buSzPct val="100000"/>
              <a:buChar char="•"/>
            </a:pPr>
            <a:r>
              <a:rPr lang="cs-CZ" sz="17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</a:t>
            </a:r>
            <a:r>
              <a:rPr lang="en-US" sz="1700" dirty="0" err="1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rácení</a:t>
            </a:r>
            <a:r>
              <a:rPr lang="en-US" sz="17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změn zpět při chybě během provisioningu</a:t>
            </a:r>
            <a:endParaRPr lang="en-US" sz="1700" dirty="0"/>
          </a:p>
          <a:p>
            <a:pPr marL="194310" indent="-194310">
              <a:buSzPct val="100000"/>
              <a:buChar char="•"/>
            </a:pPr>
            <a:r>
              <a:rPr lang="cs-CZ" sz="17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r>
              <a:rPr lang="en-US" sz="1700" dirty="0" err="1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ěh</a:t>
            </a:r>
            <a:r>
              <a:rPr lang="en-US" sz="17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celé aplikace v kontejnerech včetně dokumentace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7336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Architektura systému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772920"/>
            <a:ext cx="1124712" cy="411480"/>
          </a:xfrm>
          <a:prstGeom prst="rect">
            <a:avLst/>
          </a:prstGeom>
          <a:solidFill>
            <a:srgbClr val="EEF2F7"/>
          </a:solidFill>
          <a:ln w="12700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/>
          <p:nvPr/>
        </p:nvSpPr>
        <p:spPr>
          <a:xfrm>
            <a:off x="713232" y="1836928"/>
            <a:ext cx="9784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40" b="1" dirty="0">
                <a:solidFill>
                  <a:srgbClr val="1F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Služba</a:t>
            </a:r>
            <a:endParaRPr lang="en-US" sz="1440" dirty="0"/>
          </a:p>
        </p:txBody>
      </p:sp>
      <p:sp>
        <p:nvSpPr>
          <p:cNvPr id="7" name="Shape 5"/>
          <p:cNvSpPr/>
          <p:nvPr/>
        </p:nvSpPr>
        <p:spPr>
          <a:xfrm>
            <a:off x="1764792" y="1772920"/>
            <a:ext cx="2560320" cy="411480"/>
          </a:xfrm>
          <a:prstGeom prst="rect">
            <a:avLst/>
          </a:prstGeom>
          <a:solidFill>
            <a:srgbClr val="EEF2F7"/>
          </a:solidFill>
          <a:ln w="12700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Text 6"/>
          <p:cNvSpPr/>
          <p:nvPr/>
        </p:nvSpPr>
        <p:spPr>
          <a:xfrm>
            <a:off x="1837944" y="1836928"/>
            <a:ext cx="24140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40" b="1" dirty="0">
                <a:solidFill>
                  <a:srgbClr val="1F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Technologie</a:t>
            </a:r>
            <a:endParaRPr lang="en-US" sz="1440" dirty="0"/>
          </a:p>
        </p:txBody>
      </p:sp>
      <p:sp>
        <p:nvSpPr>
          <p:cNvPr id="9" name="Shape 7"/>
          <p:cNvSpPr/>
          <p:nvPr/>
        </p:nvSpPr>
        <p:spPr>
          <a:xfrm>
            <a:off x="4325112" y="1772920"/>
            <a:ext cx="1097280" cy="411480"/>
          </a:xfrm>
          <a:prstGeom prst="rect">
            <a:avLst/>
          </a:prstGeom>
          <a:solidFill>
            <a:srgbClr val="EEF2F7"/>
          </a:solidFill>
          <a:ln w="12700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Text 8"/>
          <p:cNvSpPr/>
          <p:nvPr/>
        </p:nvSpPr>
        <p:spPr>
          <a:xfrm>
            <a:off x="4398264" y="1836928"/>
            <a:ext cx="9509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40" b="1" dirty="0">
                <a:solidFill>
                  <a:srgbClr val="1F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</a:t>
            </a:r>
            <a:endParaRPr lang="en-US" sz="1440" dirty="0"/>
          </a:p>
        </p:txBody>
      </p:sp>
      <p:sp>
        <p:nvSpPr>
          <p:cNvPr id="11" name="Shape 9"/>
          <p:cNvSpPr/>
          <p:nvPr/>
        </p:nvSpPr>
        <p:spPr>
          <a:xfrm>
            <a:off x="5422392" y="1772920"/>
            <a:ext cx="5669280" cy="411480"/>
          </a:xfrm>
          <a:prstGeom prst="rect">
            <a:avLst/>
          </a:prstGeom>
          <a:solidFill>
            <a:srgbClr val="EEF2F7"/>
          </a:solidFill>
          <a:ln w="12700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2" name="Text 10"/>
          <p:cNvSpPr/>
          <p:nvPr/>
        </p:nvSpPr>
        <p:spPr>
          <a:xfrm>
            <a:off x="5495544" y="1836928"/>
            <a:ext cx="55229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40" b="1" dirty="0">
                <a:solidFill>
                  <a:srgbClr val="1F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Úloha v systému</a:t>
            </a:r>
            <a:endParaRPr lang="en-US" sz="1440" dirty="0"/>
          </a:p>
        </p:txBody>
      </p:sp>
      <p:sp>
        <p:nvSpPr>
          <p:cNvPr id="13" name="Shape 11"/>
          <p:cNvSpPr/>
          <p:nvPr/>
        </p:nvSpPr>
        <p:spPr>
          <a:xfrm>
            <a:off x="640080" y="2184400"/>
            <a:ext cx="1124712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4" name="Text 12"/>
          <p:cNvSpPr/>
          <p:nvPr/>
        </p:nvSpPr>
        <p:spPr>
          <a:xfrm>
            <a:off x="713232" y="2248408"/>
            <a:ext cx="9784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s-CZ" sz="14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</a:t>
            </a:r>
            <a:r>
              <a:rPr lang="en-US" sz="1440" dirty="0" err="1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eb</a:t>
            </a:r>
            <a:endParaRPr lang="en-US" sz="1440" dirty="0"/>
          </a:p>
        </p:txBody>
      </p:sp>
      <p:sp>
        <p:nvSpPr>
          <p:cNvPr id="15" name="Shape 13"/>
          <p:cNvSpPr/>
          <p:nvPr/>
        </p:nvSpPr>
        <p:spPr>
          <a:xfrm>
            <a:off x="1764792" y="2184400"/>
            <a:ext cx="25603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6" name="Text 14"/>
          <p:cNvSpPr/>
          <p:nvPr/>
        </p:nvSpPr>
        <p:spPr>
          <a:xfrm>
            <a:off x="1837944" y="2248408"/>
            <a:ext cx="24140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Apache + PHP 8.2</a:t>
            </a:r>
            <a:endParaRPr lang="en-US" sz="1440" dirty="0"/>
          </a:p>
        </p:txBody>
      </p:sp>
      <p:sp>
        <p:nvSpPr>
          <p:cNvPr id="18" name="Text 16"/>
          <p:cNvSpPr/>
          <p:nvPr/>
        </p:nvSpPr>
        <p:spPr>
          <a:xfrm>
            <a:off x="4398264" y="2248408"/>
            <a:ext cx="9509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</a:t>
            </a:r>
            <a:r>
              <a:rPr lang="cs-CZ" sz="14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</a:t>
            </a:r>
            <a:endParaRPr lang="en-US" sz="1440" dirty="0"/>
          </a:p>
        </p:txBody>
      </p:sp>
      <p:sp>
        <p:nvSpPr>
          <p:cNvPr id="19" name="Shape 17"/>
          <p:cNvSpPr/>
          <p:nvPr/>
        </p:nvSpPr>
        <p:spPr>
          <a:xfrm>
            <a:off x="5422392" y="2184400"/>
            <a:ext cx="56692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0" name="Text 18"/>
          <p:cNvSpPr/>
          <p:nvPr/>
        </p:nvSpPr>
        <p:spPr>
          <a:xfrm>
            <a:off x="5495544" y="2248408"/>
            <a:ext cx="55229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webový server a admin aplikace</a:t>
            </a:r>
            <a:endParaRPr lang="en-US" sz="1440" dirty="0"/>
          </a:p>
        </p:txBody>
      </p:sp>
      <p:sp>
        <p:nvSpPr>
          <p:cNvPr id="21" name="Shape 19"/>
          <p:cNvSpPr/>
          <p:nvPr/>
        </p:nvSpPr>
        <p:spPr>
          <a:xfrm>
            <a:off x="640080" y="2595880"/>
            <a:ext cx="1124712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2" name="Text 20"/>
          <p:cNvSpPr/>
          <p:nvPr/>
        </p:nvSpPr>
        <p:spPr>
          <a:xfrm>
            <a:off x="713232" y="2659888"/>
            <a:ext cx="9784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s-CZ" sz="1440" dirty="0">
                <a:solidFill>
                  <a:srgbClr val="202124"/>
                </a:solidFill>
                <a:latin typeface="Aptos" pitchFamily="34" charset="0"/>
              </a:rPr>
              <a:t>DB</a:t>
            </a:r>
          </a:p>
        </p:txBody>
      </p:sp>
      <p:sp>
        <p:nvSpPr>
          <p:cNvPr id="23" name="Shape 21"/>
          <p:cNvSpPr/>
          <p:nvPr/>
        </p:nvSpPr>
        <p:spPr>
          <a:xfrm>
            <a:off x="1764792" y="2595880"/>
            <a:ext cx="25603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4" name="Text 22"/>
          <p:cNvSpPr/>
          <p:nvPr/>
        </p:nvSpPr>
        <p:spPr>
          <a:xfrm>
            <a:off x="1837944" y="2659888"/>
            <a:ext cx="24140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MariaDB 10.11</a:t>
            </a:r>
            <a:endParaRPr lang="en-US" sz="1440" dirty="0"/>
          </a:p>
        </p:txBody>
      </p:sp>
      <p:sp>
        <p:nvSpPr>
          <p:cNvPr id="25" name="Shape 23"/>
          <p:cNvSpPr/>
          <p:nvPr/>
        </p:nvSpPr>
        <p:spPr>
          <a:xfrm>
            <a:off x="4325112" y="2595880"/>
            <a:ext cx="10972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6" name="Text 24"/>
          <p:cNvSpPr/>
          <p:nvPr/>
        </p:nvSpPr>
        <p:spPr>
          <a:xfrm>
            <a:off x="4398264" y="2659888"/>
            <a:ext cx="9509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3306</a:t>
            </a:r>
            <a:endParaRPr lang="en-US" sz="1440" dirty="0"/>
          </a:p>
        </p:txBody>
      </p:sp>
      <p:sp>
        <p:nvSpPr>
          <p:cNvPr id="27" name="Shape 25"/>
          <p:cNvSpPr/>
          <p:nvPr/>
        </p:nvSpPr>
        <p:spPr>
          <a:xfrm>
            <a:off x="5422392" y="2595880"/>
            <a:ext cx="56692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8" name="Text 26"/>
          <p:cNvSpPr/>
          <p:nvPr/>
        </p:nvSpPr>
        <p:spPr>
          <a:xfrm>
            <a:off x="5495544" y="2659888"/>
            <a:ext cx="55229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uložení databází a uživatelů</a:t>
            </a:r>
            <a:endParaRPr lang="en-US" sz="1440" dirty="0"/>
          </a:p>
        </p:txBody>
      </p:sp>
      <p:sp>
        <p:nvSpPr>
          <p:cNvPr id="29" name="Shape 27"/>
          <p:cNvSpPr/>
          <p:nvPr/>
        </p:nvSpPr>
        <p:spPr>
          <a:xfrm>
            <a:off x="640080" y="3007360"/>
            <a:ext cx="1124712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cs-CZ" dirty="0"/>
          </a:p>
        </p:txBody>
      </p:sp>
      <p:sp>
        <p:nvSpPr>
          <p:cNvPr id="30" name="Text 28"/>
          <p:cNvSpPr/>
          <p:nvPr/>
        </p:nvSpPr>
        <p:spPr>
          <a:xfrm>
            <a:off x="713232" y="3071368"/>
            <a:ext cx="9784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s-CZ" sz="14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FTP</a:t>
            </a:r>
            <a:endParaRPr lang="en-US" sz="1440" dirty="0"/>
          </a:p>
        </p:txBody>
      </p:sp>
      <p:sp>
        <p:nvSpPr>
          <p:cNvPr id="31" name="Shape 29"/>
          <p:cNvSpPr/>
          <p:nvPr/>
        </p:nvSpPr>
        <p:spPr>
          <a:xfrm>
            <a:off x="1764792" y="3007360"/>
            <a:ext cx="25603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2" name="Text 30"/>
          <p:cNvSpPr/>
          <p:nvPr/>
        </p:nvSpPr>
        <p:spPr>
          <a:xfrm>
            <a:off x="1837944" y="3071368"/>
            <a:ext cx="24140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Pure-FTPd</a:t>
            </a:r>
            <a:endParaRPr lang="en-US" sz="1440" dirty="0"/>
          </a:p>
        </p:txBody>
      </p:sp>
      <p:sp>
        <p:nvSpPr>
          <p:cNvPr id="33" name="Shape 31"/>
          <p:cNvSpPr/>
          <p:nvPr/>
        </p:nvSpPr>
        <p:spPr>
          <a:xfrm>
            <a:off x="4325112" y="3007360"/>
            <a:ext cx="10972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4" name="Text 32"/>
          <p:cNvSpPr/>
          <p:nvPr/>
        </p:nvSpPr>
        <p:spPr>
          <a:xfrm>
            <a:off x="4398264" y="3071368"/>
            <a:ext cx="9509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2121</a:t>
            </a:r>
            <a:endParaRPr lang="en-US" sz="1440" dirty="0"/>
          </a:p>
        </p:txBody>
      </p:sp>
      <p:sp>
        <p:nvSpPr>
          <p:cNvPr id="35" name="Shape 33"/>
          <p:cNvSpPr/>
          <p:nvPr/>
        </p:nvSpPr>
        <p:spPr>
          <a:xfrm>
            <a:off x="5422392" y="3007360"/>
            <a:ext cx="56692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6" name="Text 34"/>
          <p:cNvSpPr/>
          <p:nvPr/>
        </p:nvSpPr>
        <p:spPr>
          <a:xfrm>
            <a:off x="5495544" y="3071368"/>
            <a:ext cx="55229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přenos souborů zákazníků</a:t>
            </a:r>
            <a:endParaRPr lang="en-US" sz="1440" dirty="0"/>
          </a:p>
        </p:txBody>
      </p:sp>
      <p:sp>
        <p:nvSpPr>
          <p:cNvPr id="37" name="Shape 35"/>
          <p:cNvSpPr/>
          <p:nvPr/>
        </p:nvSpPr>
        <p:spPr>
          <a:xfrm>
            <a:off x="640080" y="3418840"/>
            <a:ext cx="1124712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8" name="Text 36"/>
          <p:cNvSpPr/>
          <p:nvPr/>
        </p:nvSpPr>
        <p:spPr>
          <a:xfrm>
            <a:off x="713232" y="3482848"/>
            <a:ext cx="9784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s-CZ" sz="14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PMA</a:t>
            </a:r>
            <a:endParaRPr lang="en-US" sz="1440" dirty="0"/>
          </a:p>
        </p:txBody>
      </p:sp>
      <p:sp>
        <p:nvSpPr>
          <p:cNvPr id="39" name="Shape 37"/>
          <p:cNvSpPr/>
          <p:nvPr/>
        </p:nvSpPr>
        <p:spPr>
          <a:xfrm>
            <a:off x="1764792" y="3418840"/>
            <a:ext cx="25603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0" name="Text 38"/>
          <p:cNvSpPr/>
          <p:nvPr/>
        </p:nvSpPr>
        <p:spPr>
          <a:xfrm>
            <a:off x="1837944" y="3482848"/>
            <a:ext cx="24140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phpMyAdmin</a:t>
            </a:r>
            <a:endParaRPr lang="en-US" sz="1440" dirty="0"/>
          </a:p>
        </p:txBody>
      </p:sp>
      <p:sp>
        <p:nvSpPr>
          <p:cNvPr id="41" name="Shape 39"/>
          <p:cNvSpPr/>
          <p:nvPr/>
        </p:nvSpPr>
        <p:spPr>
          <a:xfrm>
            <a:off x="4325112" y="3418840"/>
            <a:ext cx="10972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2" name="Text 40"/>
          <p:cNvSpPr/>
          <p:nvPr/>
        </p:nvSpPr>
        <p:spPr>
          <a:xfrm>
            <a:off x="4398264" y="3482848"/>
            <a:ext cx="9509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8081</a:t>
            </a:r>
            <a:endParaRPr lang="en-US" sz="1440" dirty="0"/>
          </a:p>
        </p:txBody>
      </p:sp>
      <p:sp>
        <p:nvSpPr>
          <p:cNvPr id="43" name="Shape 41"/>
          <p:cNvSpPr/>
          <p:nvPr/>
        </p:nvSpPr>
        <p:spPr>
          <a:xfrm>
            <a:off x="5422392" y="3418840"/>
            <a:ext cx="56692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4" name="Text 42"/>
          <p:cNvSpPr/>
          <p:nvPr/>
        </p:nvSpPr>
        <p:spPr>
          <a:xfrm>
            <a:off x="5495544" y="3482848"/>
            <a:ext cx="55229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správa MariaDB přes web</a:t>
            </a:r>
            <a:endParaRPr lang="en-US" sz="1440" dirty="0"/>
          </a:p>
        </p:txBody>
      </p:sp>
      <p:sp>
        <p:nvSpPr>
          <p:cNvPr id="45" name="Shape 43"/>
          <p:cNvSpPr/>
          <p:nvPr/>
        </p:nvSpPr>
        <p:spPr>
          <a:xfrm>
            <a:off x="640080" y="3830320"/>
            <a:ext cx="1124712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6" name="Text 44"/>
          <p:cNvSpPr/>
          <p:nvPr/>
        </p:nvSpPr>
        <p:spPr>
          <a:xfrm>
            <a:off x="713232" y="3894328"/>
            <a:ext cx="9784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s-CZ" sz="1440" dirty="0" err="1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</a:t>
            </a:r>
            <a:endParaRPr lang="en-US" sz="1440" dirty="0"/>
          </a:p>
        </p:txBody>
      </p:sp>
      <p:sp>
        <p:nvSpPr>
          <p:cNvPr id="47" name="Shape 45"/>
          <p:cNvSpPr/>
          <p:nvPr/>
        </p:nvSpPr>
        <p:spPr>
          <a:xfrm>
            <a:off x="1764792" y="3830320"/>
            <a:ext cx="25603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8" name="Text 46"/>
          <p:cNvSpPr/>
          <p:nvPr/>
        </p:nvSpPr>
        <p:spPr>
          <a:xfrm>
            <a:off x="1837944" y="3894328"/>
            <a:ext cx="24140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MkDocs</a:t>
            </a:r>
            <a:endParaRPr lang="en-US" sz="1440" dirty="0"/>
          </a:p>
        </p:txBody>
      </p:sp>
      <p:sp>
        <p:nvSpPr>
          <p:cNvPr id="49" name="Shape 47"/>
          <p:cNvSpPr/>
          <p:nvPr/>
        </p:nvSpPr>
        <p:spPr>
          <a:xfrm>
            <a:off x="4325112" y="3830320"/>
            <a:ext cx="10972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0" name="Text 48"/>
          <p:cNvSpPr/>
          <p:nvPr/>
        </p:nvSpPr>
        <p:spPr>
          <a:xfrm>
            <a:off x="4398264" y="3894328"/>
            <a:ext cx="9509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8000</a:t>
            </a:r>
            <a:endParaRPr lang="en-US" sz="1440" dirty="0"/>
          </a:p>
        </p:txBody>
      </p:sp>
      <p:sp>
        <p:nvSpPr>
          <p:cNvPr id="51" name="Shape 49"/>
          <p:cNvSpPr/>
          <p:nvPr/>
        </p:nvSpPr>
        <p:spPr>
          <a:xfrm>
            <a:off x="5422392" y="3830320"/>
            <a:ext cx="56692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2" name="Text 50"/>
          <p:cNvSpPr/>
          <p:nvPr/>
        </p:nvSpPr>
        <p:spPr>
          <a:xfrm>
            <a:off x="5495544" y="3894328"/>
            <a:ext cx="55229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živá projektová dokumentace</a:t>
            </a:r>
            <a:endParaRPr lang="en-US" sz="1440" dirty="0"/>
          </a:p>
        </p:txBody>
      </p:sp>
      <p:sp>
        <p:nvSpPr>
          <p:cNvPr id="54" name="Text 52"/>
          <p:cNvSpPr/>
          <p:nvPr/>
        </p:nvSpPr>
        <p:spPr>
          <a:xfrm>
            <a:off x="640080" y="4427220"/>
            <a:ext cx="102138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Výhoda tohoto rozdělení je hlavně v tom, že se dají jednotlivé části ladit odděleně a současně zůstává celé prostředí spustitelné jedním příkazem.</a:t>
            </a:r>
            <a:endParaRPr lang="en-US" sz="1300" dirty="0"/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7336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66797E5B-2A85-97BD-7DC6-D6FFAE1455C8}"/>
              </a:ext>
            </a:extLst>
          </p:cNvPr>
          <p:cNvSpPr txBox="1"/>
          <p:nvPr/>
        </p:nvSpPr>
        <p:spPr>
          <a:xfrm>
            <a:off x="557784" y="928608"/>
            <a:ext cx="10378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Využívá Docker – přenositelnost , konfigurace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Webový server – Apache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41248" y="12984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B6A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Podporované způsoby hostingu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41248" y="1600200"/>
            <a:ext cx="3429000" cy="1170432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/>
          <p:nvPr/>
        </p:nvSpPr>
        <p:spPr>
          <a:xfrm>
            <a:off x="969264" y="1691640"/>
            <a:ext cx="3172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Adresářový hosting</a:t>
            </a:r>
            <a:endParaRPr lang="en-US" sz="1300" b="1" dirty="0"/>
          </a:p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localhost:8080/~user</a:t>
            </a:r>
            <a:endParaRPr lang="en-US" sz="1300" dirty="0"/>
          </a:p>
          <a:p>
            <a:pPr marL="0" indent="0">
              <a:buNone/>
            </a:pPr>
            <a:endParaRPr lang="cs-CZ" sz="1300" dirty="0">
              <a:solidFill>
                <a:srgbClr val="202124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r>
              <a:rPr lang="en-US" sz="1300" dirty="0" err="1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Vhodné</a:t>
            </a: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hlavně pro lokální testování bez DNS.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98848" y="1600200"/>
            <a:ext cx="3246120" cy="1170432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Text 6"/>
          <p:cNvSpPr/>
          <p:nvPr/>
        </p:nvSpPr>
        <p:spPr>
          <a:xfrm>
            <a:off x="4626864" y="1691640"/>
            <a:ext cx="2990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Subdoménový hosting</a:t>
            </a:r>
            <a:endParaRPr lang="en-US" sz="1300" b="1" dirty="0"/>
          </a:p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user.localhost:8080</a:t>
            </a:r>
            <a:endParaRPr lang="en-US" sz="1300" dirty="0"/>
          </a:p>
          <a:p>
            <a:pPr marL="0" indent="0">
              <a:buNone/>
            </a:pPr>
            <a:endParaRPr lang="cs-CZ" sz="1300" dirty="0">
              <a:solidFill>
                <a:srgbClr val="202124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r>
              <a:rPr lang="en-US" sz="1300" dirty="0" err="1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Blíže</a:t>
            </a: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odpovídá tomu, jak funguje klasický hosting.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065008" y="1600200"/>
            <a:ext cx="2788920" cy="1170432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Text 8"/>
          <p:cNvSpPr/>
          <p:nvPr/>
        </p:nvSpPr>
        <p:spPr>
          <a:xfrm>
            <a:off x="8193024" y="1691640"/>
            <a:ext cx="25328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Doménový hosting</a:t>
            </a:r>
            <a:endParaRPr lang="en-US" sz="1300" b="1" dirty="0"/>
          </a:p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user.cz / www.user.cz</a:t>
            </a:r>
            <a:endParaRPr lang="en-US" sz="1300" dirty="0"/>
          </a:p>
          <a:p>
            <a:pPr marL="0" indent="0">
              <a:buNone/>
            </a:pPr>
            <a:endParaRPr lang="cs-CZ" sz="1300" dirty="0">
              <a:solidFill>
                <a:srgbClr val="202124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r>
              <a:rPr lang="en-US" sz="1300" dirty="0" err="1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Možnost</a:t>
            </a: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testovat i vlastní doménový tvar přes aliasy.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41248" y="31546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B6A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Další nastavení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77824" y="3429000"/>
            <a:ext cx="10241280" cy="1920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94310" indent="-194310"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VirtualDocumentRoot a AliasMatch pro mapování na správnou složku zákazníka</a:t>
            </a:r>
            <a:endParaRPr lang="en-US" sz="1700" dirty="0"/>
          </a:p>
          <a:p>
            <a:pPr marL="194310" indent="-194310"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aktivní Apache moduly rewrite a vhost_alias</a:t>
            </a:r>
            <a:endParaRPr lang="en-US" sz="1700" dirty="0"/>
          </a:p>
          <a:p>
            <a:pPr marL="194310" indent="-194310"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upravené PHP limity pro upload </a:t>
            </a:r>
            <a:r>
              <a:rPr lang="en-US" sz="1700" dirty="0" err="1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větších</a:t>
            </a:r>
            <a:r>
              <a:rPr lang="en-US" sz="17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700" dirty="0" err="1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souborů</a:t>
            </a:r>
            <a:r>
              <a:rPr lang="cs-CZ" sz="17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(100MB, max 1000 souborů)</a:t>
            </a:r>
            <a:endParaRPr lang="en-US" sz="1700" dirty="0"/>
          </a:p>
          <a:p>
            <a:pPr marL="194310" indent="-194310"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pomocné nástroje pro práci s FTP účty přímo v </a:t>
            </a:r>
            <a:r>
              <a:rPr lang="en-US" sz="1700" dirty="0" err="1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kontejneru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7336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 aplikace – zřízení hostingu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41248" y="1371600"/>
            <a:ext cx="745236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/>
          <p:nvPr/>
        </p:nvSpPr>
        <p:spPr>
          <a:xfrm>
            <a:off x="978408" y="1733495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r>
              <a:rPr lang="cs-CZ" sz="1300" b="1" dirty="0">
                <a:solidFill>
                  <a:srgbClr val="1F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72768" y="1609344"/>
            <a:ext cx="635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Ověření vstupů a sanitizace jména zákazníka, kontrola kolize v evidenci hostingů.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78408" y="2492447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r>
              <a:rPr lang="cs-CZ" sz="1300" b="1" dirty="0">
                <a:solidFill>
                  <a:srgbClr val="1F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572768" y="2368296"/>
            <a:ext cx="635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Vytvoření složky /srv/www/{customer}/public a základního souboru index.php.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978408" y="3251399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r>
              <a:rPr lang="cs-CZ" sz="1300" b="1" dirty="0">
                <a:solidFill>
                  <a:srgbClr val="1F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572768" y="3127248"/>
            <a:ext cx="635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Založení databáze, uživatele a přidělení práv jen pro tuto databázi.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978408" y="4010351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r>
              <a:rPr lang="cs-CZ" sz="1300" b="1" dirty="0">
                <a:solidFill>
                  <a:srgbClr val="1F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572768" y="3886200"/>
            <a:ext cx="635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Vytvoření FTP účtu přes pure-pw a aktualizace databáze uživatelů bez restartu kontejneru.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978408" y="4769303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r>
              <a:rPr lang="cs-CZ" sz="1300" b="1" dirty="0">
                <a:solidFill>
                  <a:srgbClr val="1F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72768" y="4645152"/>
            <a:ext cx="635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Uložení přístupových údajů do interní evidence a export přehledu pro administrátora.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8549640" y="1627632"/>
            <a:ext cx="2697480" cy="1417320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1" name="Text 19"/>
          <p:cNvSpPr/>
          <p:nvPr/>
        </p:nvSpPr>
        <p:spPr>
          <a:xfrm>
            <a:off x="8677656" y="1719072"/>
            <a:ext cx="244144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Rollback</a:t>
            </a:r>
            <a:endParaRPr lang="cs-CZ" sz="1300" b="1" dirty="0">
              <a:solidFill>
                <a:srgbClr val="202124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r>
              <a:rPr lang="cs-CZ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</a:t>
            </a:r>
            <a:r>
              <a:rPr lang="en-US" sz="1300" dirty="0" err="1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okud</a:t>
            </a: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se kterýkoli krok nepovede, skript smaže vytvořenou databázi, uživatele i adresáře, aby nezůstalo rozbité nebo neúplné prostředí.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549640" y="3337560"/>
            <a:ext cx="2697480" cy="1298448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3" name="Text 21"/>
          <p:cNvSpPr/>
          <p:nvPr/>
        </p:nvSpPr>
        <p:spPr>
          <a:xfrm>
            <a:off x="8677656" y="3520440"/>
            <a:ext cx="24414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s-CZ" sz="1300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Uložení přihlašovacích údajů</a:t>
            </a:r>
          </a:p>
          <a:p>
            <a:pPr marL="0" indent="0" algn="ctr">
              <a:buNone/>
            </a:pPr>
            <a:r>
              <a:rPr lang="cs-CZ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Panel zároveň řeší přihlášení administrátora, seznam zákazníků, klientský </a:t>
            </a:r>
            <a:r>
              <a:rPr lang="en-US" sz="1300" dirty="0" err="1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portál</a:t>
            </a: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cs-CZ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r>
              <a:rPr lang="en-US" sz="13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upload souborů.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7336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Databáze a FTP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062472" y="1325880"/>
            <a:ext cx="0" cy="4480560"/>
          </a:xfrm>
          <a:prstGeom prst="line">
            <a:avLst/>
          </a:prstGeom>
          <a:noFill/>
          <a:ln w="12700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841248" y="13258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B6A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MariaDB 10.11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" y="1645920"/>
            <a:ext cx="4800600" cy="4023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>
              <a:buSzPct val="100000"/>
            </a:pPr>
            <a:endParaRPr lang="cs-CZ" sz="1700" dirty="0">
              <a:solidFill>
                <a:srgbClr val="202124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194310" indent="-194310">
              <a:buSzPct val="100000"/>
              <a:buChar char="•"/>
            </a:pPr>
            <a:r>
              <a:rPr lang="cs-CZ" sz="17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r>
              <a:rPr lang="en-US" sz="1700" dirty="0" err="1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amostatná</a:t>
            </a:r>
            <a:r>
              <a:rPr lang="en-US" sz="17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databáze a databázový uživatel pro každého zákazníka</a:t>
            </a:r>
            <a:endParaRPr lang="en-US" sz="1700" dirty="0"/>
          </a:p>
          <a:p>
            <a:pPr marL="194310" indent="-194310">
              <a:buSzPct val="100000"/>
              <a:buChar char="•"/>
            </a:pPr>
            <a:r>
              <a:rPr lang="cs-CZ" sz="17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</a:t>
            </a:r>
            <a:r>
              <a:rPr lang="en-US" sz="1700" dirty="0" err="1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právnění</a:t>
            </a:r>
            <a:r>
              <a:rPr lang="en-US" sz="17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pouze nad konkrétní databází typu cust{name}db</a:t>
            </a:r>
            <a:endParaRPr lang="en-US" sz="1700" dirty="0"/>
          </a:p>
          <a:p>
            <a:pPr marL="194310" indent="-194310"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root účet zůstává jen pro administraci celého systému</a:t>
            </a:r>
            <a:endParaRPr lang="en-US" sz="1700" dirty="0"/>
          </a:p>
          <a:p>
            <a:pPr marL="194310" indent="-194310"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perzistence dat přes bind mount do ./data/mariadb</a:t>
            </a:r>
            <a:endParaRPr lang="en-US" sz="1700" dirty="0"/>
          </a:p>
          <a:p>
            <a:pPr marL="194310" indent="-194310"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při rollbacku se provede DROP DATABASE i DROP USER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55080" y="13258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B6A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Pure-FTPd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91656" y="1645920"/>
            <a:ext cx="4663440" cy="4023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94310" indent="-194310">
              <a:buSzPct val="100000"/>
              <a:buChar char="•"/>
            </a:pPr>
            <a:endParaRPr lang="cs-CZ" sz="1700" dirty="0">
              <a:solidFill>
                <a:srgbClr val="202124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194310" indent="-194310">
              <a:buSzPct val="100000"/>
              <a:buChar char="•"/>
            </a:pPr>
            <a:r>
              <a:rPr lang="en-US" sz="1700" dirty="0" err="1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virtuální</a:t>
            </a:r>
            <a:r>
              <a:rPr lang="en-US" sz="17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uživatelé bez vytváření systémových Linux účtů</a:t>
            </a:r>
            <a:endParaRPr lang="en-US" sz="1700" dirty="0"/>
          </a:p>
          <a:p>
            <a:pPr marL="194310" indent="-194310"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chroot omezení na vlastní adresář /home/{name}/public</a:t>
            </a:r>
            <a:endParaRPr lang="en-US" sz="1700" dirty="0"/>
          </a:p>
          <a:p>
            <a:pPr marL="194310" indent="-194310"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sdílený svazek data/www mezi webem a FTP službou</a:t>
            </a:r>
            <a:endParaRPr lang="en-US" sz="1700" dirty="0"/>
          </a:p>
          <a:p>
            <a:pPr marL="194310" indent="-194310"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živá aktualizace uživatelů přes pure-pw mkdb bez restartu</a:t>
            </a:r>
            <a:endParaRPr lang="en-US" sz="1700" dirty="0"/>
          </a:p>
          <a:p>
            <a:pPr marL="194310" indent="-194310"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pasivní režim na portech 30000–30009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7336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Bezpečnost a izolace zákazníků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41248" y="13258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B6A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Souborový systém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77824" y="1627632"/>
            <a:ext cx="4754880" cy="1508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80594" indent="-180594">
              <a:buSzPct val="100000"/>
              <a:buChar char="•"/>
            </a:pPr>
            <a:r>
              <a:rPr lang="en-US" sz="158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každý zákazník pracuje jen ve své složce /srv/www/{name}/public</a:t>
            </a:r>
            <a:endParaRPr lang="en-US" sz="1580" dirty="0"/>
          </a:p>
          <a:p>
            <a:pPr marL="180594" indent="-180594">
              <a:buSzPct val="100000"/>
              <a:buChar char="•"/>
            </a:pPr>
            <a:r>
              <a:rPr lang="en-US" sz="158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 se vždy ověřuje podle session kontextu přihlášeného uživatele</a:t>
            </a:r>
            <a:endParaRPr lang="en-US" sz="1580" dirty="0"/>
          </a:p>
          <a:p>
            <a:pPr marL="180594" indent="-180594">
              <a:buSzPct val="100000"/>
              <a:buChar char="•"/>
            </a:pPr>
            <a:r>
              <a:rPr lang="en-US" sz="158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blokování problematických cest typu . a .. kvůli path traversal útokům</a:t>
            </a:r>
            <a:endParaRPr lang="en-US" sz="1580" dirty="0"/>
          </a:p>
        </p:txBody>
      </p:sp>
      <p:sp>
        <p:nvSpPr>
          <p:cNvPr id="6" name="Text 4"/>
          <p:cNvSpPr/>
          <p:nvPr/>
        </p:nvSpPr>
        <p:spPr>
          <a:xfrm>
            <a:off x="6236208" y="13258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B6A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Databáze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72784" y="1627632"/>
            <a:ext cx="4754880" cy="1508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80594" indent="-180594">
              <a:buSzPct val="100000"/>
              <a:buChar char="•"/>
            </a:pPr>
            <a:r>
              <a:rPr lang="en-US" sz="158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oddělená DB a vlastní DB účet pro každého zákazníka</a:t>
            </a:r>
            <a:endParaRPr lang="en-US" sz="1580" dirty="0"/>
          </a:p>
          <a:p>
            <a:pPr marL="180594" indent="-180594">
              <a:buSzPct val="100000"/>
              <a:buChar char="•"/>
            </a:pPr>
            <a:r>
              <a:rPr lang="en-US" sz="158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žádný cross-access do cizích databází díky omezeným grantům</a:t>
            </a:r>
            <a:endParaRPr lang="en-US" sz="1580" dirty="0"/>
          </a:p>
          <a:p>
            <a:pPr marL="180594" indent="-180594">
              <a:buSzPct val="100000"/>
              <a:buChar char="•"/>
            </a:pPr>
            <a:r>
              <a:rPr lang="en-US" sz="158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 phpMyAdmin se po přihlášení zobrazí jen příslušná databáze</a:t>
            </a:r>
            <a:endParaRPr lang="en-US" sz="1580" dirty="0"/>
          </a:p>
        </p:txBody>
      </p:sp>
      <p:sp>
        <p:nvSpPr>
          <p:cNvPr id="8" name="Text 6"/>
          <p:cNvSpPr/>
          <p:nvPr/>
        </p:nvSpPr>
        <p:spPr>
          <a:xfrm>
            <a:off x="841248" y="33375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B6A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Portál a session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77824" y="3639312"/>
            <a:ext cx="475488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80594" indent="-180594">
              <a:buSzPct val="100000"/>
              <a:buChar char="•"/>
            </a:pPr>
            <a:r>
              <a:rPr lang="en-US" sz="158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hesla jsou uložená jako hash pomocí password_hash</a:t>
            </a:r>
            <a:endParaRPr lang="en-US" sz="1580" dirty="0"/>
          </a:p>
          <a:p>
            <a:pPr marL="180594" indent="-180594">
              <a:buSzPct val="100000"/>
              <a:buChar char="•"/>
            </a:pPr>
            <a:r>
              <a:rPr lang="en-US" sz="158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aplikace odvozuje oprávnění z customer_name uloženého v session</a:t>
            </a:r>
            <a:endParaRPr lang="en-US" sz="1580" dirty="0"/>
          </a:p>
          <a:p>
            <a:pPr marL="180594" indent="-180594">
              <a:buSzPct val="100000"/>
              <a:buChar char="•"/>
            </a:pPr>
            <a:r>
              <a:rPr lang="en-US" sz="158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session je oddělená od zákaznické části</a:t>
            </a:r>
            <a:endParaRPr lang="en-US" sz="1580" dirty="0"/>
          </a:p>
        </p:txBody>
      </p:sp>
      <p:sp>
        <p:nvSpPr>
          <p:cNvPr id="10" name="Text 8"/>
          <p:cNvSpPr/>
          <p:nvPr/>
        </p:nvSpPr>
        <p:spPr>
          <a:xfrm>
            <a:off x="6236208" y="33375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B6A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FTP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72784" y="3639312"/>
            <a:ext cx="475488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80594" indent="-180594">
              <a:buSzPct val="100000"/>
              <a:buChar char="•"/>
            </a:pPr>
            <a:r>
              <a:rPr lang="en-US" sz="158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FTP účet má přístup pouze do vlastního home </a:t>
            </a:r>
            <a:r>
              <a:rPr lang="en-US" sz="1580" dirty="0" err="1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adresáře</a:t>
            </a:r>
            <a:r>
              <a:rPr lang="cs-CZ" sz="158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- </a:t>
            </a:r>
            <a:r>
              <a:rPr lang="cs-CZ" sz="1580" dirty="0" err="1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Chroot</a:t>
            </a:r>
            <a:endParaRPr lang="en-US" sz="1580" dirty="0"/>
          </a:p>
          <a:p>
            <a:pPr marL="180594" indent="-180594">
              <a:buSzPct val="100000"/>
              <a:buChar char="•"/>
            </a:pPr>
            <a:r>
              <a:rPr lang="en-US" sz="158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používají se virtuální uživatelé, ne systémové účty serveru</a:t>
            </a:r>
            <a:endParaRPr lang="en-US" sz="1580" dirty="0"/>
          </a:p>
          <a:p>
            <a:pPr marL="180594" indent="-180594">
              <a:buSzPct val="100000"/>
              <a:buChar char="•"/>
            </a:pPr>
            <a:r>
              <a:rPr lang="en-US" sz="158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a FTP vrstva sdílí data, ale ne oprávnění administrace</a:t>
            </a:r>
            <a:endParaRPr lang="en-US" sz="15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7336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Dokumentace – MkDocs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41248" y="13533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B6A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 dokumentace obsahuje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15217" y="1783080"/>
            <a:ext cx="5486400" cy="3291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89738" indent="-189738">
              <a:buSzPct val="100000"/>
              <a:buChar char="•"/>
            </a:pPr>
            <a:r>
              <a:rPr lang="cs-CZ" sz="1660" dirty="0" err="1">
                <a:solidFill>
                  <a:srgbClr val="202124"/>
                </a:solidFill>
                <a:latin typeface="Aptos" pitchFamily="34" charset="0"/>
              </a:rPr>
              <a:t>Docker</a:t>
            </a:r>
            <a:r>
              <a:rPr lang="cs-CZ" sz="1660" dirty="0">
                <a:solidFill>
                  <a:srgbClr val="202124"/>
                </a:solidFill>
                <a:latin typeface="Aptos" pitchFamily="34" charset="0"/>
              </a:rPr>
              <a:t> kontejner – </a:t>
            </a:r>
            <a:r>
              <a:rPr lang="cs-CZ" sz="1660" dirty="0" err="1">
                <a:solidFill>
                  <a:srgbClr val="202124"/>
                </a:solidFill>
                <a:latin typeface="Aptos" pitchFamily="34" charset="0"/>
              </a:rPr>
              <a:t>hosting_docs</a:t>
            </a:r>
            <a:r>
              <a:rPr lang="cs-CZ" sz="1660" dirty="0">
                <a:solidFill>
                  <a:srgbClr val="202124"/>
                </a:solidFill>
                <a:latin typeface="Aptos" pitchFamily="34" charset="0"/>
              </a:rPr>
              <a:t>, port 8000</a:t>
            </a:r>
            <a:endParaRPr lang="en-US" sz="1660" dirty="0"/>
          </a:p>
          <a:p>
            <a:pPr marL="189738" indent="-189738">
              <a:buSzPct val="100000"/>
              <a:buChar char="•"/>
            </a:pPr>
            <a:r>
              <a:rPr lang="cs-CZ" sz="166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Nástroj – </a:t>
            </a:r>
            <a:r>
              <a:rPr lang="cs-CZ" sz="1660" dirty="0" err="1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MkDocs</a:t>
            </a:r>
            <a:r>
              <a:rPr lang="cs-CZ" sz="166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+ </a:t>
            </a:r>
            <a:r>
              <a:rPr lang="cs-CZ" sz="1660" dirty="0" err="1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</a:t>
            </a:r>
            <a:endParaRPr lang="en-US" sz="1660" dirty="0"/>
          </a:p>
          <a:p>
            <a:pPr marL="189738" indent="-189738">
              <a:buSzPct val="100000"/>
              <a:buChar char="•"/>
            </a:pPr>
            <a:r>
              <a:rPr lang="cs-CZ" sz="166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Funkce Live </a:t>
            </a:r>
            <a:r>
              <a:rPr lang="cs-CZ" sz="1660" dirty="0" err="1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Reload</a:t>
            </a:r>
            <a:r>
              <a:rPr lang="cs-CZ" sz="166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– Sleduje celý adresář a propíše změny</a:t>
            </a:r>
            <a:endParaRPr lang="en-US" sz="1660" dirty="0"/>
          </a:p>
          <a:p>
            <a:pPr marL="189738" indent="-189738">
              <a:buSzPct val="100000"/>
              <a:buChar char="•"/>
            </a:pPr>
            <a:r>
              <a:rPr lang="cs-CZ" sz="166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Formát souborů – </a:t>
            </a:r>
            <a:r>
              <a:rPr lang="cs-CZ" sz="1660" dirty="0" err="1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Markdown</a:t>
            </a:r>
            <a:r>
              <a:rPr lang="cs-CZ" sz="166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(.</a:t>
            </a:r>
            <a:r>
              <a:rPr lang="cs-CZ" sz="1660" dirty="0" err="1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md</a:t>
            </a:r>
            <a:r>
              <a:rPr lang="cs-CZ" sz="166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</a:t>
            </a:r>
            <a:r>
              <a:rPr lang="en-US" sz="166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endParaRPr lang="cs-CZ" sz="1660" dirty="0">
              <a:solidFill>
                <a:srgbClr val="202124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189738" indent="-189738">
              <a:buSzPct val="100000"/>
              <a:buChar char="•"/>
            </a:pPr>
            <a:r>
              <a:rPr lang="cs-CZ" sz="166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Konfigurace – </a:t>
            </a:r>
            <a:r>
              <a:rPr lang="cs-CZ" sz="1660" dirty="0" err="1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mkdocs.yml</a:t>
            </a:r>
            <a:r>
              <a:rPr lang="cs-CZ" sz="166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v kořenovém adresáři</a:t>
            </a:r>
          </a:p>
          <a:p>
            <a:pPr>
              <a:buSzPct val="100000"/>
            </a:pPr>
            <a:endParaRPr lang="en-US" sz="1660" dirty="0"/>
          </a:p>
        </p:txBody>
      </p:sp>
      <p:sp>
        <p:nvSpPr>
          <p:cNvPr id="6" name="Text 4"/>
          <p:cNvSpPr/>
          <p:nvPr/>
        </p:nvSpPr>
        <p:spPr>
          <a:xfrm>
            <a:off x="6537960" y="13533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B6A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Technické poznámky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7336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1FF55A66-AE49-F152-3F70-5D07E9E350A6}"/>
              </a:ext>
            </a:extLst>
          </p:cNvPr>
          <p:cNvSpPr/>
          <p:nvPr/>
        </p:nvSpPr>
        <p:spPr>
          <a:xfrm>
            <a:off x="1030224" y="1816608"/>
            <a:ext cx="5486400" cy="3291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89738" indent="-189738">
              <a:buSzPct val="100000"/>
              <a:buChar char="•"/>
            </a:pPr>
            <a:r>
              <a:rPr lang="en-US" sz="166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APP.md – popis PHP aplikace a procesu provisioningu</a:t>
            </a:r>
            <a:endParaRPr lang="en-US" sz="1660" dirty="0"/>
          </a:p>
          <a:p>
            <a:pPr marL="189738" indent="-189738">
              <a:buSzPct val="100000"/>
              <a:buChar char="•"/>
            </a:pPr>
            <a:r>
              <a:rPr lang="en-US" sz="166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DB.md – databázová vrstva a práce s oprávněními</a:t>
            </a:r>
            <a:endParaRPr lang="en-US" sz="1660" dirty="0"/>
          </a:p>
          <a:p>
            <a:pPr marL="189738" indent="-189738">
              <a:buSzPct val="100000"/>
              <a:buChar char="•"/>
            </a:pPr>
            <a:r>
              <a:rPr lang="en-US" sz="166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DOCKER_COMPOSE.md – přehled všech kontejnerů</a:t>
            </a:r>
            <a:endParaRPr lang="en-US" sz="1660" dirty="0"/>
          </a:p>
          <a:p>
            <a:pPr marL="189738" indent="-189738">
              <a:buSzPct val="100000"/>
              <a:buChar char="•"/>
            </a:pPr>
            <a:r>
              <a:rPr lang="en-US" sz="166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FTP.md, SECURITY.md a WEB.md – konfigurace jednotlivých částí</a:t>
            </a:r>
            <a:endParaRPr lang="en-US" sz="1660" dirty="0"/>
          </a:p>
          <a:p>
            <a:pPr marL="189738" indent="-189738">
              <a:buSzPct val="100000"/>
              <a:buChar char="•"/>
            </a:pPr>
            <a:r>
              <a:rPr lang="en-US" sz="166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USER_GUIDE.md a README – návod na spuštění a používání projektu</a:t>
            </a:r>
            <a:endParaRPr lang="en-US" sz="16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F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Závěr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68680" y="1417320"/>
            <a:ext cx="10332720" cy="2834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05740" indent="-205740">
              <a:buSzPct val="100000"/>
              <a:buChar char="•"/>
            </a:pPr>
            <a:r>
              <a:rPr lang="cs-CZ" sz="18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Připravili jsme</a:t>
            </a:r>
            <a:r>
              <a:rPr lang="en-US" sz="18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funkční prostředí v Docker</a:t>
            </a:r>
            <a:r>
              <a:rPr lang="cs-CZ" sz="18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</a:t>
            </a:r>
            <a:r>
              <a:rPr lang="en-US" sz="18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 pěti kontejnery</a:t>
            </a: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cs-CZ" sz="18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r>
              <a:rPr lang="en-US" sz="1800" dirty="0" err="1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dmin</a:t>
            </a:r>
            <a:r>
              <a:rPr lang="en-US" sz="18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panel umí automaticky založit hosting, databázi i FTP účet</a:t>
            </a: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cs-CZ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</a:t>
            </a:r>
            <a:r>
              <a:rPr lang="en-US" sz="1800" dirty="0" err="1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ákazníci</a:t>
            </a:r>
            <a:r>
              <a:rPr lang="en-US" sz="18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jsou od sebe oddělení na úrovni souborů, databáze, session i FTP</a:t>
            </a: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cs-CZ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Ř</a:t>
            </a:r>
            <a:r>
              <a:rPr lang="en-US" sz="1800" dirty="0" err="1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ešení</a:t>
            </a:r>
            <a:r>
              <a:rPr lang="en-US" sz="18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podporuje tři způsoby </a:t>
            </a:r>
            <a:r>
              <a:rPr lang="en-US" sz="1800" dirty="0" err="1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hostingu</a:t>
            </a:r>
            <a:r>
              <a:rPr lang="en-US" sz="18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</a:t>
            </a:r>
            <a:endParaRPr lang="cs-CZ" sz="1800" dirty="0">
              <a:solidFill>
                <a:srgbClr val="202124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800100" lvl="1" indent="-342900">
              <a:buSzPct val="100000"/>
              <a:buFont typeface="+mj-lt"/>
              <a:buAutoNum type="arabicPeriod"/>
            </a:pPr>
            <a:r>
              <a:rPr lang="en-US" dirty="0" err="1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Adresář</a:t>
            </a:r>
            <a:endParaRPr lang="cs-CZ" dirty="0">
              <a:solidFill>
                <a:srgbClr val="202124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800100" lvl="1" indent="-342900">
              <a:buSzPct val="100000"/>
              <a:buFont typeface="+mj-lt"/>
              <a:buAutoNum type="arabicPeriod"/>
            </a:pPr>
            <a:r>
              <a:rPr lang="en-US" dirty="0" err="1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Subdoména</a:t>
            </a:r>
            <a:endParaRPr lang="cs-CZ" dirty="0">
              <a:solidFill>
                <a:srgbClr val="202124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800100" lvl="1" indent="-342900">
              <a:buSzPct val="100000"/>
              <a:buFont typeface="+mj-lt"/>
              <a:buAutoNum type="arabicPeriod"/>
            </a:pPr>
            <a:r>
              <a:rPr lang="cs-CZ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</a:t>
            </a:r>
            <a:r>
              <a:rPr lang="en-US" dirty="0" err="1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lastní</a:t>
            </a:r>
            <a:r>
              <a:rPr lang="en-US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dirty="0" err="1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doména</a:t>
            </a:r>
            <a:endParaRPr lang="cs-CZ" dirty="0">
              <a:solidFill>
                <a:srgbClr val="202124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800100" lvl="1" indent="-342900">
              <a:buSzPct val="100000"/>
              <a:buFont typeface="+mj-lt"/>
              <a:buAutoNum type="arabicPeriod"/>
            </a:pPr>
            <a:endParaRPr lang="en-US" dirty="0"/>
          </a:p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součástí projektu je rollback při chybě a </a:t>
            </a:r>
            <a:r>
              <a:rPr lang="en-US" sz="1800" dirty="0" err="1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také</a:t>
            </a:r>
            <a:r>
              <a:rPr lang="en-US" sz="18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800" dirty="0" err="1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dokumentace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7336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214884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 err="1">
                <a:solidFill>
                  <a:srgbClr val="1F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Děkuj</a:t>
            </a:r>
            <a:r>
              <a:rPr lang="cs-CZ" sz="2700" b="1" dirty="0" err="1">
                <a:solidFill>
                  <a:srgbClr val="1F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eme</a:t>
            </a:r>
            <a:r>
              <a:rPr lang="en-US" sz="2700" b="1" dirty="0">
                <a:solidFill>
                  <a:srgbClr val="1F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za pozornost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96112" y="37307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s-CZ" sz="1800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Máte nějaké d</a:t>
            </a:r>
            <a:r>
              <a:rPr lang="en-US" sz="1800" b="1" dirty="0" err="1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otazy</a:t>
            </a:r>
            <a:r>
              <a:rPr lang="en-US" sz="1800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7336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837</Words>
  <Application>Microsoft Office PowerPoint</Application>
  <PresentationFormat>Širokoúhlá obrazovka</PresentationFormat>
  <Paragraphs>156</Paragraphs>
  <Slides>10</Slides>
  <Notes>10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Motiv Office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Duda Bohdan</dc:creator>
  <cp:lastModifiedBy>Bartončík Matěj</cp:lastModifiedBy>
  <cp:revision>2</cp:revision>
  <dcterms:created xsi:type="dcterms:W3CDTF">2026-04-21T16:07:28Z</dcterms:created>
  <dcterms:modified xsi:type="dcterms:W3CDTF">2026-04-22T05:53:35Z</dcterms:modified>
</cp:coreProperties>
</file>