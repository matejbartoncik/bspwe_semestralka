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Klikněte pro přesun snímku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cs-CZ" sz="2000" spc="-1" strike="noStrike">
                <a:solidFill>
                  <a:srgbClr val="000000"/>
                </a:solidFill>
                <a:latin typeface="Arial"/>
              </a:rPr>
              <a:t>Klikněte pro úpravu formátu komentářů</a:t>
            </a:r>
            <a:endParaRPr b="0" lang="cs-CZ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&lt;záhlaví&gt;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3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&lt;datum/čas&gt;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3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6C047AB-5D8C-4271-B78F-B82CB9002907}" type="slidenum"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&lt;číslo&gt;</a:t>
            </a:fld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FC280B-066F-455C-B226-541BF3DA57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DFA7F7-17FD-4918-81F0-557635597E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B10B7B-FBEC-462F-AD9E-1428E3B3A11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DC2B0F-B138-4603-8FA6-86B4BB2370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53BE48-E0E7-493B-A968-935C72A027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73A24B-A9DD-44E6-8883-BD32CFDF78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D50D52-2717-4E65-A2C8-16C3258FD7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AA5C74-AC9F-4C7B-8EC7-CC82F9E2AA5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2B0F5A-AF28-4F63-B283-ABCE783015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34D6C4-FFA9-461F-93E8-CD7E21AC4BE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cs-CZ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435118-A97F-4348-A49E-8C863EEC2E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F3163B4-019E-41D8-8517-E6E66F1312D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BF8B703-460A-4C96-8E3E-33DD8DF2868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2BB55053-2F5D-4316-B034-1ECBC5873DF5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A666D099-85F1-4CA8-92CA-CB7CA9752F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8BC32182-1BBE-4EC2-AEEF-85DD7C53D1A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cs-CZ" sz="2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218E5CBE-7A1C-4710-856E-8500B644B8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C018B652-4688-4C9D-8301-34B7918C12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07784109-0A7E-42C9-81AE-EAF71396A3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E7DFEB3D-7313-48AF-95F5-39B83C0FA1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C0062EDD-F3AA-469C-9AE4-845331BCDF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3A709008-C560-47F0-85C6-145809B029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p>
            <a:r>
              <a:rPr lang="cs-CZ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Kliknutím lze </a:t>
            </a: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upravit styl.</a:t>
            </a:r>
            <a:endParaRPr b="0" lang="cs-CZ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8B9934-5B24-4D0A-B55F-B9D979807B53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li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n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u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tí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lz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e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u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p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vi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yl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3F3850-7AD3-4CB5-B097-0167BA527298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n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u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í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m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z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e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u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p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r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a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v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i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 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s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t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y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l</a:t>
            </a: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696257-0AF6-4616-A699-4EED75623D24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502920" y="6355080"/>
            <a:ext cx="11155680" cy="360"/>
          </a:xfrm>
          <a:prstGeom prst="line">
            <a:avLst/>
          </a:prstGeom>
          <a:ln w="12700">
            <a:solidFill>
              <a:srgbClr val="d9de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Text 2"/>
          <p:cNvSpPr/>
          <p:nvPr/>
        </p:nvSpPr>
        <p:spPr>
          <a:xfrm>
            <a:off x="594360" y="640080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9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sldNum" idx="10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1ADF2D-6AFF-4D0E-8B8D-43D285461C88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Klikněte pro úpravu formátu textu nadpisu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Klikněte pro úpravu formátu textu osnovy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 osnovy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Pátá úroveň osnovy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Šestá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Sedmá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6CF9FF-D9EC-4742-A026-CA400A3BDB3D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60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6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24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30F3E0-5CA5-4D1C-AFC7-309B98D35F1C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6AD8A-05D8-4A83-BF28-91F2B13FAF63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cs-CZ" sz="24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cs-CZ" sz="24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7"/>
          <p:cNvSpPr>
            <a:spLocks noGrp="1"/>
          </p:cNvSpPr>
          <p:nvPr>
            <p:ph type="ftr" idx="2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8"/>
          <p:cNvSpPr>
            <a:spLocks noGrp="1"/>
          </p:cNvSpPr>
          <p:nvPr>
            <p:ph type="sldNum" idx="2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C20793-DD24-4923-A09D-211C81859DB5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44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44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dt" idx="2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ftr" idx="2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sldNum" idx="2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BACC2C-35F5-43CF-98CA-A745B4D2F97D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2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2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55FD13-75A0-40B5-8213-ACDC7AA63A46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32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8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2800" spc="-1" strike="noStrike">
              <a:solidFill>
                <a:schemeClr val="dk1"/>
              </a:solidFill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4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2400" spc="-1" strike="noStrike">
              <a:solidFill>
                <a:schemeClr val="dk1"/>
              </a:solidFill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Čtvrtá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cs-CZ" sz="2000" spc="-1" strike="noStrike">
                <a:solidFill>
                  <a:schemeClr val="dk1"/>
                </a:solidFill>
                <a:latin typeface="Aptos"/>
              </a:rPr>
              <a:t>Pátá úroveň</a:t>
            </a:r>
            <a:endParaRPr b="0" lang="cs-CZ" sz="20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16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2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sldNum" idx="3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759208-6258-48AB-9D1A-028CF917A0D3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cs-CZ" sz="3200" spc="-1" strike="noStrike">
                <a:solidFill>
                  <a:schemeClr val="dk1"/>
                </a:solidFill>
                <a:latin typeface="Aptos Display"/>
              </a:rPr>
              <a:t>Kliknutím lze upravit styl.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Klikněte pro úpravu formátu textu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Druhá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Třetí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Čtvrtá úroveň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Pátá úroveň osnovy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Šestá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cs-CZ" sz="3200" spc="-1" strike="noStrike">
                <a:solidFill>
                  <a:schemeClr val="dk1"/>
                </a:solidFill>
                <a:latin typeface="Aptos"/>
              </a:rPr>
              <a:t>Sedmá úroveň</a:t>
            </a:r>
            <a:endParaRPr b="0" lang="cs-CZ" sz="32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cs-CZ" sz="1600" spc="-1" strike="noStrike">
                <a:solidFill>
                  <a:schemeClr val="dk1"/>
                </a:solidFill>
                <a:latin typeface="Aptos"/>
              </a:rPr>
              <a:t>Po kliknutí můžete upravovat styly textu v předloze.</a:t>
            </a:r>
            <a:endParaRPr b="0" lang="cs-CZ" sz="16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&lt;datum/čas&gt;</a:t>
            </a:r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cs-CZ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cs-CZ" sz="1400" spc="-1" strike="noStrike">
                <a:solidFill>
                  <a:srgbClr val="000000"/>
                </a:solidFill>
                <a:latin typeface="Times New Roman"/>
              </a:rPr>
              <a:t>&lt;zápatí&gt;</a:t>
            </a:r>
            <a:endParaRPr b="0" lang="cs-CZ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74865-63D5-4931-BB53-40F1297113D2}" type="slidenum">
              <a:rPr b="0" lang="cs-CZ" sz="1200" spc="-1" strike="noStrike">
                <a:solidFill>
                  <a:schemeClr val="dk1">
                    <a:tint val="82000"/>
                  </a:schemeClr>
                </a:solidFill>
                <a:latin typeface="Aptos"/>
              </a:rPr>
              <a:t>&lt;číslo&gt;</a:t>
            </a:fld>
            <a:endParaRPr b="0" lang="cs-CZ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822960" y="1234440"/>
            <a:ext cx="9052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Webhosting Management System</a:t>
            </a:r>
            <a:endParaRPr b="0" lang="cs-CZ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41320" y="1993320"/>
            <a:ext cx="6766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4e5b68"/>
                </a:solidFill>
                <a:latin typeface="Aptos"/>
                <a:ea typeface="Aptos"/>
              </a:rPr>
              <a:t>Semestrální projekt do předmětu BSPWE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"/>
          <p:cNvSpPr/>
          <p:nvPr/>
        </p:nvSpPr>
        <p:spPr>
          <a:xfrm>
            <a:off x="840960" y="2505240"/>
            <a:ext cx="4389120" cy="360"/>
          </a:xfrm>
          <a:prstGeom prst="line">
            <a:avLst/>
          </a:prstGeom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0" name="Text 3"/>
          <p:cNvSpPr/>
          <p:nvPr/>
        </p:nvSpPr>
        <p:spPr>
          <a:xfrm>
            <a:off x="841320" y="2670120"/>
            <a:ext cx="6583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202124"/>
                </a:solidFill>
                <a:latin typeface="Aptos"/>
                <a:ea typeface="Aptos"/>
              </a:rPr>
              <a:t>Docker • PHP 8.2 • Apache • MariaDB • FTP</a:t>
            </a:r>
            <a:endParaRPr b="0" lang="cs-CZ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822960" y="588744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600" spc="-1" strike="noStrike">
                <a:solidFill>
                  <a:srgbClr val="202124"/>
                </a:solidFill>
                <a:latin typeface="Aptos"/>
                <a:ea typeface="Aptos"/>
              </a:rPr>
              <a:t>Ztvárnili:</a:t>
            </a:r>
            <a:endParaRPr b="0" lang="cs-CZ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02124"/>
                </a:solidFill>
                <a:latin typeface="Aptos"/>
                <a:ea typeface="Aptos"/>
              </a:rPr>
              <a:t>Matěj Bartončík</a:t>
            </a:r>
            <a:r>
              <a:rPr b="0" lang="cs-CZ" sz="1600" spc="-1" strike="noStrike">
                <a:solidFill>
                  <a:srgbClr val="202124"/>
                </a:solidFill>
                <a:latin typeface="Aptos"/>
                <a:ea typeface="Aptos"/>
              </a:rPr>
              <a:t> &amp; Bohdan Duda</a:t>
            </a:r>
            <a:endParaRPr b="0" lang="cs-CZ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sldNum" idx="38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158671-AF3C-4781-8A02-E0FB96790E89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Cíl projektu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822960" y="132588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202124"/>
                </a:solidFill>
                <a:latin typeface="Aptos"/>
                <a:ea typeface="Aptos"/>
              </a:rPr>
              <a:t>Cílem bylo navrhnout řešení, ve kterém administrátor založí zákazníkovi webový prostor, databázi i FTP přístup z jednoho místa a bez ruční konfigurace každé části zvlášť.</a:t>
            </a:r>
            <a:endParaRPr b="0" lang="cs-CZ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3"/>
          <p:cNvSpPr/>
          <p:nvPr/>
        </p:nvSpPr>
        <p:spPr>
          <a:xfrm>
            <a:off x="841320" y="256032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Role v systému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841320" y="2816280"/>
            <a:ext cx="5211720" cy="100548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7" name="Text 5"/>
          <p:cNvSpPr/>
          <p:nvPr/>
        </p:nvSpPr>
        <p:spPr>
          <a:xfrm>
            <a:off x="969120" y="2907720"/>
            <a:ext cx="495576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Admin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Zakládá hostingy, vidí přehled zákazníků a spravuje celé prostředí.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6144840" y="2816280"/>
            <a:ext cx="5166000" cy="100548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272640" y="2907720"/>
            <a:ext cx="491004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Zákazník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Pracuje se svým webem, databází a soubory přes FTP nebo klientský portál.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8"/>
          <p:cNvSpPr/>
          <p:nvPr/>
        </p:nvSpPr>
        <p:spPr>
          <a:xfrm>
            <a:off x="841320" y="416052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Hlavní body projektu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877680" y="4434840"/>
            <a:ext cx="10149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O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ddělení jednotlivých zákazníků od sebe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utomatické vytvoření všech potřebných prostředků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V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rácení změn zpět při chybě během provisioningu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sldNum" idx="39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F9F800-E4C7-4807-B878-2CD62AF37B9E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Architektura systému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640080" y="1773000"/>
            <a:ext cx="112428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5" name="Text 4"/>
          <p:cNvSpPr/>
          <p:nvPr/>
        </p:nvSpPr>
        <p:spPr>
          <a:xfrm>
            <a:off x="713160" y="183708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Služba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1764720" y="1773000"/>
            <a:ext cx="255996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7" name="Text 6"/>
          <p:cNvSpPr/>
          <p:nvPr/>
        </p:nvSpPr>
        <p:spPr>
          <a:xfrm>
            <a:off x="1837800" y="183708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Technologie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4325040" y="1773000"/>
            <a:ext cx="109692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99" name="Text 8"/>
          <p:cNvSpPr/>
          <p:nvPr/>
        </p:nvSpPr>
        <p:spPr>
          <a:xfrm>
            <a:off x="4398120" y="183708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Port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5422320" y="1773000"/>
            <a:ext cx="5668920" cy="411120"/>
          </a:xfrm>
          <a:prstGeom prst="rect">
            <a:avLst/>
          </a:prstGeom>
          <a:solidFill>
            <a:srgbClr val="eef2f7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5495400" y="183708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40" spc="-1" strike="noStrike">
                <a:solidFill>
                  <a:srgbClr val="1f3a5f"/>
                </a:solidFill>
                <a:latin typeface="Aptos"/>
                <a:ea typeface="Aptos"/>
              </a:rPr>
              <a:t>Úloha v systému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640080" y="218448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713160" y="224856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W</a:t>
            </a: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eb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3"/>
          <p:cNvSpPr/>
          <p:nvPr/>
        </p:nvSpPr>
        <p:spPr>
          <a:xfrm>
            <a:off x="1764720" y="218448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1837800" y="224856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Apache + PHP 8.2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4398120" y="224856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</a:t>
            </a: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80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17"/>
          <p:cNvSpPr/>
          <p:nvPr/>
        </p:nvSpPr>
        <p:spPr>
          <a:xfrm>
            <a:off x="5422320" y="218448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5495400" y="224856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webový server a admin aplikace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640080" y="259596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0" name="Text 20"/>
          <p:cNvSpPr/>
          <p:nvPr/>
        </p:nvSpPr>
        <p:spPr>
          <a:xfrm>
            <a:off x="713160" y="266004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</a:rPr>
              <a:t>DB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1"/>
          <p:cNvSpPr/>
          <p:nvPr/>
        </p:nvSpPr>
        <p:spPr>
          <a:xfrm>
            <a:off x="1764720" y="259596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1837800" y="266004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MariaDB 10.11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23"/>
          <p:cNvSpPr/>
          <p:nvPr/>
        </p:nvSpPr>
        <p:spPr>
          <a:xfrm>
            <a:off x="4325040" y="259596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4398120" y="266004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3306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25"/>
          <p:cNvSpPr/>
          <p:nvPr/>
        </p:nvSpPr>
        <p:spPr>
          <a:xfrm>
            <a:off x="5422320" y="259596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6" name="Text 26"/>
          <p:cNvSpPr/>
          <p:nvPr/>
        </p:nvSpPr>
        <p:spPr>
          <a:xfrm>
            <a:off x="5495400" y="266004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uložení databází a uživatelů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27"/>
          <p:cNvSpPr/>
          <p:nvPr/>
        </p:nvSpPr>
        <p:spPr>
          <a:xfrm>
            <a:off x="640080" y="300744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18" name="Text 28"/>
          <p:cNvSpPr/>
          <p:nvPr/>
        </p:nvSpPr>
        <p:spPr>
          <a:xfrm>
            <a:off x="713160" y="307152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FTP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29"/>
          <p:cNvSpPr/>
          <p:nvPr/>
        </p:nvSpPr>
        <p:spPr>
          <a:xfrm>
            <a:off x="1764720" y="300744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0" name="Text 30"/>
          <p:cNvSpPr/>
          <p:nvPr/>
        </p:nvSpPr>
        <p:spPr>
          <a:xfrm>
            <a:off x="1837800" y="307152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Pure-FTPd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1"/>
          <p:cNvSpPr/>
          <p:nvPr/>
        </p:nvSpPr>
        <p:spPr>
          <a:xfrm>
            <a:off x="4325040" y="300744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2" name="Text 32"/>
          <p:cNvSpPr/>
          <p:nvPr/>
        </p:nvSpPr>
        <p:spPr>
          <a:xfrm>
            <a:off x="4398120" y="307152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2121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3"/>
          <p:cNvSpPr/>
          <p:nvPr/>
        </p:nvSpPr>
        <p:spPr>
          <a:xfrm>
            <a:off x="5422320" y="300744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4" name="Text 34"/>
          <p:cNvSpPr/>
          <p:nvPr/>
        </p:nvSpPr>
        <p:spPr>
          <a:xfrm>
            <a:off x="5495400" y="307152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přenos souborů zákazníků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35"/>
          <p:cNvSpPr/>
          <p:nvPr/>
        </p:nvSpPr>
        <p:spPr>
          <a:xfrm>
            <a:off x="640080" y="341892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6" name="Text 36"/>
          <p:cNvSpPr/>
          <p:nvPr/>
        </p:nvSpPr>
        <p:spPr>
          <a:xfrm>
            <a:off x="713160" y="348300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PMA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37"/>
          <p:cNvSpPr/>
          <p:nvPr/>
        </p:nvSpPr>
        <p:spPr>
          <a:xfrm>
            <a:off x="1764720" y="341892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28" name="Text 38"/>
          <p:cNvSpPr/>
          <p:nvPr/>
        </p:nvSpPr>
        <p:spPr>
          <a:xfrm>
            <a:off x="1837800" y="348300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phpMyAdmin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39"/>
          <p:cNvSpPr/>
          <p:nvPr/>
        </p:nvSpPr>
        <p:spPr>
          <a:xfrm>
            <a:off x="4325040" y="341892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0" name="Text 40"/>
          <p:cNvSpPr/>
          <p:nvPr/>
        </p:nvSpPr>
        <p:spPr>
          <a:xfrm>
            <a:off x="4398120" y="348300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8081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41"/>
          <p:cNvSpPr/>
          <p:nvPr/>
        </p:nvSpPr>
        <p:spPr>
          <a:xfrm>
            <a:off x="5422320" y="341892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2" name="Text 42"/>
          <p:cNvSpPr/>
          <p:nvPr/>
        </p:nvSpPr>
        <p:spPr>
          <a:xfrm>
            <a:off x="5495400" y="348300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správa MariaDB přes web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43"/>
          <p:cNvSpPr/>
          <p:nvPr/>
        </p:nvSpPr>
        <p:spPr>
          <a:xfrm>
            <a:off x="640080" y="3830400"/>
            <a:ext cx="112428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4" name="Text 44"/>
          <p:cNvSpPr/>
          <p:nvPr/>
        </p:nvSpPr>
        <p:spPr>
          <a:xfrm>
            <a:off x="713160" y="3894480"/>
            <a:ext cx="97812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440" spc="-1" strike="noStrike">
                <a:solidFill>
                  <a:srgbClr val="202124"/>
                </a:solidFill>
                <a:latin typeface="Aptos"/>
                <a:ea typeface="Aptos"/>
              </a:rPr>
              <a:t>Docs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45"/>
          <p:cNvSpPr/>
          <p:nvPr/>
        </p:nvSpPr>
        <p:spPr>
          <a:xfrm>
            <a:off x="1764720" y="3830400"/>
            <a:ext cx="255996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6" name="Text 46"/>
          <p:cNvSpPr/>
          <p:nvPr/>
        </p:nvSpPr>
        <p:spPr>
          <a:xfrm>
            <a:off x="1837800" y="3894480"/>
            <a:ext cx="241380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MkDocs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47"/>
          <p:cNvSpPr/>
          <p:nvPr/>
        </p:nvSpPr>
        <p:spPr>
          <a:xfrm>
            <a:off x="4325040" y="3830400"/>
            <a:ext cx="1096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38" name="Text 48"/>
          <p:cNvSpPr/>
          <p:nvPr/>
        </p:nvSpPr>
        <p:spPr>
          <a:xfrm>
            <a:off x="4398120" y="3894480"/>
            <a:ext cx="950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8000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49"/>
          <p:cNvSpPr/>
          <p:nvPr/>
        </p:nvSpPr>
        <p:spPr>
          <a:xfrm>
            <a:off x="5422320" y="3830400"/>
            <a:ext cx="5668920" cy="411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0" name="Text 50"/>
          <p:cNvSpPr/>
          <p:nvPr/>
        </p:nvSpPr>
        <p:spPr>
          <a:xfrm>
            <a:off x="5495400" y="3894480"/>
            <a:ext cx="552276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40" spc="-1" strike="noStrike">
                <a:solidFill>
                  <a:srgbClr val="202124"/>
                </a:solidFill>
                <a:latin typeface="Aptos"/>
                <a:ea typeface="Aptos"/>
              </a:rPr>
              <a:t>živá projektová dokumentace</a:t>
            </a:r>
            <a:endParaRPr b="0" lang="cs-CZ" sz="14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52"/>
          <p:cNvSpPr/>
          <p:nvPr/>
        </p:nvSpPr>
        <p:spPr>
          <a:xfrm>
            <a:off x="640080" y="4427280"/>
            <a:ext cx="1021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Výhoda tohoto rozdělení je hlavně v tom, že se dají jednotlivé části ladit odděleně a současně zůstává celé prostředí spustitelné jedním příkazem.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sldNum" idx="40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DDD546-39FA-4D2A-906B-C3C68B71BF84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TextovéPole 2"/>
          <p:cNvSpPr/>
          <p:nvPr/>
        </p:nvSpPr>
        <p:spPr>
          <a:xfrm>
            <a:off x="557640" y="928440"/>
            <a:ext cx="10378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cs-CZ" sz="1800" spc="-1" strike="noStrike">
                <a:solidFill>
                  <a:schemeClr val="dk1"/>
                </a:solidFill>
                <a:latin typeface="Aptos"/>
              </a:rPr>
              <a:t>Využívá Docker – přenositelnost , konfigurace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Webový server – Apache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841320" y="1298520"/>
            <a:ext cx="3291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Podporované způsoby hostingu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841320" y="1600200"/>
            <a:ext cx="3428640" cy="1170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969120" y="1691640"/>
            <a:ext cx="3172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Adresářový hosting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localhost:8080/~user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5"/>
          <p:cNvSpPr/>
          <p:nvPr/>
        </p:nvSpPr>
        <p:spPr>
          <a:xfrm>
            <a:off x="4498920" y="1600200"/>
            <a:ext cx="3245760" cy="1170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4626720" y="1691640"/>
            <a:ext cx="298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Subdoménový hosting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user.localhost:8080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9"/>
          <p:cNvSpPr/>
          <p:nvPr/>
        </p:nvSpPr>
        <p:spPr>
          <a:xfrm>
            <a:off x="841320" y="315468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Další nastavení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0"/>
          <p:cNvSpPr/>
          <p:nvPr/>
        </p:nvSpPr>
        <p:spPr>
          <a:xfrm>
            <a:off x="877680" y="3429000"/>
            <a:ext cx="102409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VirtualDocumentRoot a AliasMatch pro mapování na správnou složku zákazníka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aktivní Apache moduly rewrite a vhost_alias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upravené PHP limity pro upload větších souborů</a:t>
            </a: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 (100MB, max 1000 souborů)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pomocné nástroje pro práci s FTP účty přímo v kontejneru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sldNum" idx="41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524CD6-5D3F-4850-BFA3-DC316FF63A54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Admin aplikace – zřízení hostingu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2"/>
          <p:cNvSpPr/>
          <p:nvPr/>
        </p:nvSpPr>
        <p:spPr>
          <a:xfrm>
            <a:off x="841320" y="1371600"/>
            <a:ext cx="7452000" cy="416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978480" y="17334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1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1572840" y="160920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Ověření vstupů a sanitizace jména zákazníka, kontrola kolize v evidenci hostingů.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7"/>
          <p:cNvSpPr/>
          <p:nvPr/>
        </p:nvSpPr>
        <p:spPr>
          <a:xfrm>
            <a:off x="978480" y="24922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2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8"/>
          <p:cNvSpPr/>
          <p:nvPr/>
        </p:nvSpPr>
        <p:spPr>
          <a:xfrm>
            <a:off x="1572840" y="236844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Vytvoření složky /srv/www/{customer}/public a základního souboru index.php.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978480" y="32515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3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1"/>
          <p:cNvSpPr/>
          <p:nvPr/>
        </p:nvSpPr>
        <p:spPr>
          <a:xfrm>
            <a:off x="1572840" y="312732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Založení databáze, uživatele a přidělení práv jen pro tuto databázi.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3"/>
          <p:cNvSpPr/>
          <p:nvPr/>
        </p:nvSpPr>
        <p:spPr>
          <a:xfrm>
            <a:off x="978480" y="40104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4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1572840" y="388620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Vytvoření FTP účtu přes pure-pw a aktualizace databáze uživatelů bez restartu kontejneru.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978480" y="47692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f3a5f"/>
                </a:solidFill>
                <a:latin typeface="Aptos"/>
                <a:ea typeface="Aptos"/>
              </a:rPr>
              <a:t>5</a:t>
            </a:r>
            <a:r>
              <a:rPr b="1" lang="cs-CZ" sz="1300" spc="-1" strike="noStrike">
                <a:solidFill>
                  <a:srgbClr val="1f3a5f"/>
                </a:solidFill>
                <a:latin typeface="Aptos"/>
                <a:ea typeface="Aptos"/>
              </a:rPr>
              <a:t>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1572840" y="4645080"/>
            <a:ext cx="6354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202124"/>
                </a:solidFill>
                <a:latin typeface="Aptos"/>
                <a:ea typeface="Aptos"/>
              </a:rPr>
              <a:t>Uložení přístupových údajů do interní evidence a export přehledu pro administrátora.</a:t>
            </a:r>
            <a:endParaRPr b="0" lang="cs-CZ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18"/>
          <p:cNvSpPr/>
          <p:nvPr/>
        </p:nvSpPr>
        <p:spPr>
          <a:xfrm>
            <a:off x="8549640" y="1080000"/>
            <a:ext cx="2697120" cy="1416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8677800" y="1171440"/>
            <a:ext cx="244116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Rollback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P</a:t>
            </a: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okud se kterýkoli krok nepovede, skript smaže vytvořenou databázi, uživatele i adresáře, aby nezůstalo rozbité nebo neúplné prostředí.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20"/>
          <p:cNvSpPr/>
          <p:nvPr/>
        </p:nvSpPr>
        <p:spPr>
          <a:xfrm>
            <a:off x="8549640" y="2790000"/>
            <a:ext cx="2697120" cy="1298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8677800" y="2972880"/>
            <a:ext cx="2441160" cy="9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Uložení přihlašovacích údajů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  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Panel zároveň řeší přihlášení administrátora, seznam zákazníků, klientský portál </a:t>
            </a: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 upload souborů.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sldNum" idx="42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082C1-1E33-4008-A46B-6B0842C41611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Shape 1"/>
          <p:cNvSpPr/>
          <p:nvPr/>
        </p:nvSpPr>
        <p:spPr>
          <a:xfrm>
            <a:off x="8549640" y="4304160"/>
            <a:ext cx="2697120" cy="1298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8660160" y="4493160"/>
            <a:ext cx="2441160" cy="93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Smazání hostingu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cs-CZ" sz="1300" spc="-1" strike="noStrike">
                <a:solidFill>
                  <a:srgbClr val="202124"/>
                </a:solidFill>
                <a:latin typeface="Aptos"/>
                <a:ea typeface="Aptos"/>
              </a:rPr>
              <a:t>  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02124"/>
                </a:solidFill>
                <a:latin typeface="Aptos"/>
                <a:ea typeface="Aptos"/>
              </a:rPr>
              <a:t>Panel také řeší situaci kdy by hosting byl potřeba smazat. V tom případě smaže ftp,databázi I klientské soubory</a:t>
            </a:r>
            <a:endParaRPr b="0" lang="cs-CZ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Databáze a FTP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6062400" y="1325880"/>
            <a:ext cx="360" cy="4480560"/>
          </a:xfrm>
          <a:prstGeom prst="line">
            <a:avLst/>
          </a:prstGeom>
          <a:ln w="12700">
            <a:solidFill>
              <a:srgbClr val="d8de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cs-CZ" sz="1800" spc="-1" strike="noStrike">
              <a:solidFill>
                <a:schemeClr val="dk1"/>
              </a:solidFill>
              <a:latin typeface="Aptos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841320" y="132588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MariaDB 10.11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877680" y="1645920"/>
            <a:ext cx="480024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</a:pP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s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amostatná databáze a databázový uživatel pro každého zákazníka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700" spc="-1" strike="noStrike">
                <a:solidFill>
                  <a:srgbClr val="202124"/>
                </a:solidFill>
                <a:latin typeface="Aptos"/>
                <a:ea typeface="Aptos"/>
              </a:rPr>
              <a:t>o</a:t>
            </a: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právnění pouze nad konkrétní databází typu cust{name}db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root účet zůstává jen pro administraci celého systému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perzistence dat přes bind mount do ./data/mariadb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při rollbacku se provede DROP DATABASE i DROP USER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6355080" y="132588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Pure-FTPd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6391800" y="1645920"/>
            <a:ext cx="4663080" cy="40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defTabSz="914400">
              <a:lnSpc>
                <a:spcPct val="100000"/>
              </a:lnSpc>
            </a:pP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virtuální uživatelé bez vytváření systémových Linux účtů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chroot omezení na vlastní adresář /home/{name}/public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sdílený svazek data/www mezi webem a FTP službou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živá aktualizace uživatelů přes pure-pw mkdb bez restartu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  <a:p>
            <a:pPr marL="194400" indent="-19440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202124"/>
                </a:solidFill>
                <a:latin typeface="Aptos"/>
                <a:ea typeface="Aptos"/>
              </a:rPr>
              <a:t>pasivní režim na portech 30000–30009</a:t>
            </a:r>
            <a:endParaRPr b="0" lang="cs-CZ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sldNum" idx="43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EF97E-1B90-4DAB-B32F-19BA8BD412FB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Bezpečnost a izolace zákazníků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841320" y="1325880"/>
            <a:ext cx="2285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Souborový systém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877680" y="1627560"/>
            <a:ext cx="475452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každý zákazník pracuje jen ve své složce /srv/www/{name}/public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upload se vždy ověřuje podle session kontextu přihlášeného uživatele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blokování problematických cest typu . a .. kvůli path traversal útokům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4"/>
          <p:cNvSpPr/>
          <p:nvPr/>
        </p:nvSpPr>
        <p:spPr>
          <a:xfrm>
            <a:off x="6236280" y="132588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Databáze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6272640" y="1627560"/>
            <a:ext cx="475452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oddělená DB a vlastní DB účet pro každého zákazníka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žádný cross-access do cizích databází díky omezeným grantům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v phpMyAdmin se po přihlášení zobrazí jen příslušná databáze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6"/>
          <p:cNvSpPr/>
          <p:nvPr/>
        </p:nvSpPr>
        <p:spPr>
          <a:xfrm>
            <a:off x="841320" y="333756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Portál a session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877680" y="3639240"/>
            <a:ext cx="47545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hesla jsou uložená jako hash pomocí password_hash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aplikace odvozuje oprávnění z customer_name uloženého v session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admin session je oddělená od zákaznické části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8"/>
          <p:cNvSpPr/>
          <p:nvPr/>
        </p:nvSpPr>
        <p:spPr>
          <a:xfrm>
            <a:off x="6236280" y="3337560"/>
            <a:ext cx="822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FTP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9"/>
          <p:cNvSpPr/>
          <p:nvPr/>
        </p:nvSpPr>
        <p:spPr>
          <a:xfrm>
            <a:off x="6272640" y="3639240"/>
            <a:ext cx="47545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FTP účet má přístup pouze do vlastního home adresáře</a:t>
            </a:r>
            <a:r>
              <a:rPr b="0" lang="cs-CZ" sz="1580" spc="-1" strike="noStrike">
                <a:solidFill>
                  <a:srgbClr val="202124"/>
                </a:solidFill>
                <a:latin typeface="Aptos"/>
                <a:ea typeface="Aptos"/>
              </a:rPr>
              <a:t> - Chroot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používají se virtuální uživatelé, ne systémové účty serveru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  <a:p>
            <a:pPr marL="180720" indent="-180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580" spc="-1" strike="noStrike">
                <a:solidFill>
                  <a:srgbClr val="202124"/>
                </a:solidFill>
                <a:latin typeface="Aptos"/>
                <a:ea typeface="Aptos"/>
              </a:rPr>
              <a:t>web a FTP vrstva sdílí data, ale ne oprávnění administrace</a:t>
            </a:r>
            <a:endParaRPr b="0" lang="cs-CZ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sldNum" idx="44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F150E0-DC12-4203-9765-2DD89F4D5CFC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Dokumentace – MkDocs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2"/>
          <p:cNvSpPr/>
          <p:nvPr/>
        </p:nvSpPr>
        <p:spPr>
          <a:xfrm>
            <a:off x="841320" y="135324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Co dokumentace obsahuje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6515280" y="1783080"/>
            <a:ext cx="5486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</a:rPr>
              <a:t>Docker kontejner – hosting_docs, port 8000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Nástroj – MkDocs + Material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Funkce Live Reload – Sleduje celý adresář a propíše změny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Formát souborů – Markdown (.md)</a:t>
            </a: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 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660" spc="-1" strike="noStrike">
                <a:solidFill>
                  <a:srgbClr val="202124"/>
                </a:solidFill>
                <a:latin typeface="Aptos"/>
                <a:ea typeface="Aptos"/>
              </a:rPr>
              <a:t>Konfigurace – mkdocs.yml v kořenovém adresáři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6537960" y="1353240"/>
            <a:ext cx="2194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b6a88"/>
                </a:solidFill>
                <a:latin typeface="Aptos"/>
                <a:ea typeface="Aptos"/>
              </a:rPr>
              <a:t>Technické poznámky</a:t>
            </a:r>
            <a:endParaRPr b="0" lang="cs-CZ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sldNum" idx="45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1B34C0-21B2-4A22-8229-3C9431A47499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1030320" y="1816560"/>
            <a:ext cx="548604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APP.md – popis PHP aplikace a procesu provisioningu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DB.md – databázová vrstva a práce s oprávněními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DOCKER_COMPOSE.md – přehled všech kontejnerů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FTP.md, SECURITY.md a WEB.md – konfigurace jednotlivých částí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  <a:p>
            <a:pPr marL="189720" indent="-1897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660" spc="-1" strike="noStrike">
                <a:solidFill>
                  <a:srgbClr val="202124"/>
                </a:solidFill>
                <a:latin typeface="Aptos"/>
                <a:ea typeface="Aptos"/>
              </a:rPr>
              <a:t>USER_GUIDE.md a README – návod na spuštění a používání projektu</a:t>
            </a:r>
            <a:endParaRPr b="0" lang="cs-CZ" sz="16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40080" y="41148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Závěr</a:t>
            </a:r>
            <a:endParaRPr b="0" lang="cs-CZ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868680" y="1417320"/>
            <a:ext cx="1033236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Připravili jsme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 funkční prostředí v Docker</a:t>
            </a: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u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 s pěti kontejnery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A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dmin panel umí automaticky založit hosting, databázi i FTP účet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Z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ákazníci jsou od sebe oddělení na úrovni souborů, databáze, session i FTP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Ř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ešení podporuje tři způsoby hostingu: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Adresář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Subdoména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 defTabSz="914400">
              <a:lnSpc>
                <a:spcPct val="100000"/>
              </a:lnSpc>
              <a:buClr>
                <a:srgbClr val="202124"/>
              </a:buClr>
              <a:buFont typeface="Aptos Display"/>
              <a:buAutoNum type="arabicPeriod"/>
            </a:pPr>
            <a:r>
              <a:rPr b="0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V</a:t>
            </a: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lastní doména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  <a:p>
            <a:pPr marL="205920" indent="-205920" defTabSz="914400">
              <a:lnSpc>
                <a:spcPct val="100000"/>
              </a:lnSpc>
              <a:buClr>
                <a:srgbClr val="202124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součástí projektu je rollback při chybě a také dokumentace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sldNum" idx="46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0FAFF2-155D-471B-A56B-FAADBE87F2E3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868680" y="2148840"/>
            <a:ext cx="6949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Děkuj</a:t>
            </a:r>
            <a:r>
              <a:rPr b="1" lang="cs-CZ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eme</a:t>
            </a:r>
            <a:r>
              <a:rPr b="1" lang="en-US" sz="2700" spc="-1" strike="noStrike">
                <a:solidFill>
                  <a:srgbClr val="1f3a5f"/>
                </a:solidFill>
                <a:latin typeface="Aptos Display"/>
                <a:ea typeface="Aptos Display"/>
              </a:rPr>
              <a:t> za pozornost</a:t>
            </a:r>
            <a:endParaRPr b="0" lang="cs-CZ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896040" y="37306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cs-CZ" sz="1800" spc="-1" strike="noStrike">
                <a:solidFill>
                  <a:srgbClr val="202124"/>
                </a:solidFill>
                <a:latin typeface="Aptos"/>
                <a:ea typeface="Aptos"/>
              </a:rPr>
              <a:t>Máte nějaké d</a:t>
            </a:r>
            <a:r>
              <a:rPr b="1" lang="en-US" sz="1800" spc="-1" strike="noStrike">
                <a:solidFill>
                  <a:srgbClr val="202124"/>
                </a:solidFill>
                <a:latin typeface="Aptos"/>
                <a:ea typeface="Aptos"/>
              </a:rPr>
              <a:t>otazy?</a:t>
            </a:r>
            <a:endParaRPr b="0" lang="cs-CZ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sldNum" idx="47"/>
          </p:nvPr>
        </p:nvSpPr>
        <p:spPr>
          <a:xfrm>
            <a:off x="11384280" y="6373440"/>
            <a:ext cx="319680" cy="18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900" spc="-1" strike="noStrike">
                <a:solidFill>
                  <a:schemeClr val="dk1"/>
                </a:solidFill>
                <a:latin typeface="Aptos"/>
                <a:ea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C5C16-7601-4606-B03F-555D6096BE66}" type="slidenum">
              <a:rPr b="0" lang="en-US" sz="900" spc="-1" strike="noStrike">
                <a:solidFill>
                  <a:schemeClr val="dk1"/>
                </a:solidFill>
                <a:latin typeface="Aptos"/>
                <a:ea typeface="Aptos"/>
              </a:rPr>
              <a:t>&lt;číslo&gt;</a:t>
            </a:fld>
            <a:endParaRPr b="0" lang="cs-CZ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LibreOffice/24.2.7.2$Linux_X86_64 LibreOffice_project/420$Build-2</Application>
  <AppVersion>15.0000</AppVersion>
  <Words>837</Words>
  <Paragraphs>156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2026-04-21T16:07:28Z</dcterms:created>
  <dc:creator>Duda Bohdan</dc:creator>
  <dc:description/>
  <dc:language>cs-CZ</dc:language>
  <cp:lastModifiedBy/>
  <dcterms:modified xsi:type="dcterms:W3CDTF">2026-04-22T09:35:44Z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Širokoúhlá obrazovka</vt:lpwstr>
  </property>
  <property fmtid="{D5CDD505-2E9C-101B-9397-08002B2CF9AE}" pid="4" name="Slides">
    <vt:i4>10</vt:i4>
  </property>
</Properties>
</file>